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3" r:id="rId3"/>
    <p:sldId id="257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61" r:id="rId13"/>
    <p:sldId id="272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4" Type="http://schemas.openxmlformats.org/officeDocument/2006/relationships/image" Target="../media/image18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4" Type="http://schemas.openxmlformats.org/officeDocument/2006/relationships/image" Target="../media/image33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4" Type="http://schemas.openxmlformats.org/officeDocument/2006/relationships/image" Target="../media/image18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4" Type="http://schemas.openxmlformats.org/officeDocument/2006/relationships/image" Target="../media/image3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1628421-0012-4606-A49B-6AD70CB2140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A1867EB-1E4F-4704-8043-C5B1E4CA9EE3}">
      <dgm:prSet/>
      <dgm:spPr/>
      <dgm:t>
        <a:bodyPr/>
        <a:lstStyle/>
        <a:p>
          <a:r>
            <a:rPr lang="en-US"/>
            <a:t>Source: UCI ML Repository</a:t>
          </a:r>
        </a:p>
      </dgm:t>
    </dgm:pt>
    <dgm:pt modelId="{3E8F2423-015C-47C3-83F4-A4C17F09879B}" type="parTrans" cxnId="{3CCBE5FF-8E6E-46E2-9342-D57ABA152CAB}">
      <dgm:prSet/>
      <dgm:spPr/>
      <dgm:t>
        <a:bodyPr/>
        <a:lstStyle/>
        <a:p>
          <a:endParaRPr lang="en-US"/>
        </a:p>
      </dgm:t>
    </dgm:pt>
    <dgm:pt modelId="{79A61086-11F3-49E2-ADE5-912EA9C1B2BA}" type="sibTrans" cxnId="{3CCBE5FF-8E6E-46E2-9342-D57ABA152CAB}">
      <dgm:prSet/>
      <dgm:spPr/>
      <dgm:t>
        <a:bodyPr/>
        <a:lstStyle/>
        <a:p>
          <a:endParaRPr lang="en-US"/>
        </a:p>
      </dgm:t>
    </dgm:pt>
    <dgm:pt modelId="{21E448B0-7D61-4153-A9C2-1FD9C0E96DC6}">
      <dgm:prSet/>
      <dgm:spPr/>
      <dgm:t>
        <a:bodyPr/>
        <a:lstStyle/>
        <a:p>
          <a:r>
            <a:rPr lang="en-US"/>
            <a:t>197 instances, 22 features</a:t>
          </a:r>
        </a:p>
      </dgm:t>
    </dgm:pt>
    <dgm:pt modelId="{9B4EA1D7-9F64-470A-AEE2-C1BEF05AE13B}" type="parTrans" cxnId="{A222FDDD-27B0-4F9E-89FA-3D8EA6C278D3}">
      <dgm:prSet/>
      <dgm:spPr/>
      <dgm:t>
        <a:bodyPr/>
        <a:lstStyle/>
        <a:p>
          <a:endParaRPr lang="en-US"/>
        </a:p>
      </dgm:t>
    </dgm:pt>
    <dgm:pt modelId="{AC20331B-DC78-4513-9F66-491DEB83144F}" type="sibTrans" cxnId="{A222FDDD-27B0-4F9E-89FA-3D8EA6C278D3}">
      <dgm:prSet/>
      <dgm:spPr/>
      <dgm:t>
        <a:bodyPr/>
        <a:lstStyle/>
        <a:p>
          <a:endParaRPr lang="en-US"/>
        </a:p>
      </dgm:t>
    </dgm:pt>
    <dgm:pt modelId="{3925003E-C0D7-45BA-B83D-0DA56979A679}">
      <dgm:prSet/>
      <dgm:spPr/>
      <dgm:t>
        <a:bodyPr/>
        <a:lstStyle/>
        <a:p>
          <a:r>
            <a:rPr lang="en-US"/>
            <a:t>Voice recordings from 31 subjects (23 with Parkinson’s)</a:t>
          </a:r>
        </a:p>
      </dgm:t>
    </dgm:pt>
    <dgm:pt modelId="{CEC3DDF4-EC2A-49E6-BB13-26682F119813}" type="parTrans" cxnId="{FB6CB176-6E55-4129-B951-8703E2CFEE85}">
      <dgm:prSet/>
      <dgm:spPr/>
      <dgm:t>
        <a:bodyPr/>
        <a:lstStyle/>
        <a:p>
          <a:endParaRPr lang="en-US"/>
        </a:p>
      </dgm:t>
    </dgm:pt>
    <dgm:pt modelId="{DAA382F7-BD90-43C7-8EE8-84B655BD67C7}" type="sibTrans" cxnId="{FB6CB176-6E55-4129-B951-8703E2CFEE85}">
      <dgm:prSet/>
      <dgm:spPr/>
      <dgm:t>
        <a:bodyPr/>
        <a:lstStyle/>
        <a:p>
          <a:endParaRPr lang="en-US"/>
        </a:p>
      </dgm:t>
    </dgm:pt>
    <dgm:pt modelId="{22C29CFF-9A66-460B-9CA5-AC8906908D4B}">
      <dgm:prSet/>
      <dgm:spPr/>
      <dgm:t>
        <a:bodyPr/>
        <a:lstStyle/>
        <a:p>
          <a:r>
            <a:rPr lang="en-US" dirty="0"/>
            <a:t>Features include frequency, amplitude, noise, nonlinear dynamics</a:t>
          </a:r>
        </a:p>
      </dgm:t>
    </dgm:pt>
    <dgm:pt modelId="{390C85F5-8B4E-4CBB-817A-3B7C985AEEB3}" type="parTrans" cxnId="{A33559CA-4C9A-4192-8F82-4077C0FE3B25}">
      <dgm:prSet/>
      <dgm:spPr/>
      <dgm:t>
        <a:bodyPr/>
        <a:lstStyle/>
        <a:p>
          <a:endParaRPr lang="en-US"/>
        </a:p>
      </dgm:t>
    </dgm:pt>
    <dgm:pt modelId="{2A035BDE-8767-42D1-8BD0-5C5AB75FDAC3}" type="sibTrans" cxnId="{A33559CA-4C9A-4192-8F82-4077C0FE3B25}">
      <dgm:prSet/>
      <dgm:spPr/>
      <dgm:t>
        <a:bodyPr/>
        <a:lstStyle/>
        <a:p>
          <a:endParaRPr lang="en-US"/>
        </a:p>
      </dgm:t>
    </dgm:pt>
    <dgm:pt modelId="{92818DCA-3303-471E-BA48-2BA0E9B06C78}">
      <dgm:prSet/>
      <dgm:spPr/>
      <dgm:t>
        <a:bodyPr/>
        <a:lstStyle/>
        <a:p>
          <a:r>
            <a:rPr lang="en-US"/>
            <a:t>Target: status (1 = Parkinson’s, 0 = Healthy)</a:t>
          </a:r>
        </a:p>
      </dgm:t>
    </dgm:pt>
    <dgm:pt modelId="{71C0AEB4-B619-4EFE-878C-8C5844B43F2B}" type="parTrans" cxnId="{633B0A78-801F-4522-A7F1-3E12743F66A1}">
      <dgm:prSet/>
      <dgm:spPr/>
      <dgm:t>
        <a:bodyPr/>
        <a:lstStyle/>
        <a:p>
          <a:endParaRPr lang="en-US"/>
        </a:p>
      </dgm:t>
    </dgm:pt>
    <dgm:pt modelId="{95824246-1899-4EFB-A1E6-CE78463BBA4B}" type="sibTrans" cxnId="{633B0A78-801F-4522-A7F1-3E12743F66A1}">
      <dgm:prSet/>
      <dgm:spPr/>
      <dgm:t>
        <a:bodyPr/>
        <a:lstStyle/>
        <a:p>
          <a:endParaRPr lang="en-US"/>
        </a:p>
      </dgm:t>
    </dgm:pt>
    <dgm:pt modelId="{41614159-A66E-4116-8D7A-B8535F340662}" type="pres">
      <dgm:prSet presAssocID="{91628421-0012-4606-A49B-6AD70CB21401}" presName="root" presStyleCnt="0">
        <dgm:presLayoutVars>
          <dgm:dir/>
          <dgm:resizeHandles val="exact"/>
        </dgm:presLayoutVars>
      </dgm:prSet>
      <dgm:spPr/>
    </dgm:pt>
    <dgm:pt modelId="{B207986A-A535-4307-9479-64689463B4C3}" type="pres">
      <dgm:prSet presAssocID="{4A1867EB-1E4F-4704-8043-C5B1E4CA9EE3}" presName="compNode" presStyleCnt="0"/>
      <dgm:spPr/>
    </dgm:pt>
    <dgm:pt modelId="{1EBCAFA1-1080-4B75-9829-1CABAE37E8C2}" type="pres">
      <dgm:prSet presAssocID="{4A1867EB-1E4F-4704-8043-C5B1E4CA9EE3}" presName="bgRect" presStyleLbl="bgShp" presStyleIdx="0" presStyleCnt="5"/>
      <dgm:spPr/>
    </dgm:pt>
    <dgm:pt modelId="{9826C227-3E08-4062-B994-F6D81A0775D2}" type="pres">
      <dgm:prSet presAssocID="{4A1867EB-1E4F-4704-8043-C5B1E4CA9EE3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5D05FE8C-D66C-433C-901F-63E7F982B272}" type="pres">
      <dgm:prSet presAssocID="{4A1867EB-1E4F-4704-8043-C5B1E4CA9EE3}" presName="spaceRect" presStyleCnt="0"/>
      <dgm:spPr/>
    </dgm:pt>
    <dgm:pt modelId="{1EBEEFFE-515D-4D16-8301-DCDBDAF5D140}" type="pres">
      <dgm:prSet presAssocID="{4A1867EB-1E4F-4704-8043-C5B1E4CA9EE3}" presName="parTx" presStyleLbl="revTx" presStyleIdx="0" presStyleCnt="5">
        <dgm:presLayoutVars>
          <dgm:chMax val="0"/>
          <dgm:chPref val="0"/>
        </dgm:presLayoutVars>
      </dgm:prSet>
      <dgm:spPr/>
    </dgm:pt>
    <dgm:pt modelId="{50D8E121-2ED3-4353-BCFD-7758776ECBF3}" type="pres">
      <dgm:prSet presAssocID="{79A61086-11F3-49E2-ADE5-912EA9C1B2BA}" presName="sibTrans" presStyleCnt="0"/>
      <dgm:spPr/>
    </dgm:pt>
    <dgm:pt modelId="{BFC9CA14-B790-4290-BFA0-4264F51A5169}" type="pres">
      <dgm:prSet presAssocID="{21E448B0-7D61-4153-A9C2-1FD9C0E96DC6}" presName="compNode" presStyleCnt="0"/>
      <dgm:spPr/>
    </dgm:pt>
    <dgm:pt modelId="{9471E071-84E6-433A-AF13-D83B62BF087F}" type="pres">
      <dgm:prSet presAssocID="{21E448B0-7D61-4153-A9C2-1FD9C0E96DC6}" presName="bgRect" presStyleLbl="bgShp" presStyleIdx="1" presStyleCnt="5"/>
      <dgm:spPr/>
    </dgm:pt>
    <dgm:pt modelId="{B7F81328-F450-499A-ACDD-22E394E14803}" type="pres">
      <dgm:prSet presAssocID="{21E448B0-7D61-4153-A9C2-1FD9C0E96DC6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levision"/>
        </a:ext>
      </dgm:extLst>
    </dgm:pt>
    <dgm:pt modelId="{5A482679-FD0C-4250-B1B2-FBF51231FE3E}" type="pres">
      <dgm:prSet presAssocID="{21E448B0-7D61-4153-A9C2-1FD9C0E96DC6}" presName="spaceRect" presStyleCnt="0"/>
      <dgm:spPr/>
    </dgm:pt>
    <dgm:pt modelId="{B246A82D-5CE5-458D-B5AE-B0DCEB5EE059}" type="pres">
      <dgm:prSet presAssocID="{21E448B0-7D61-4153-A9C2-1FD9C0E96DC6}" presName="parTx" presStyleLbl="revTx" presStyleIdx="1" presStyleCnt="5">
        <dgm:presLayoutVars>
          <dgm:chMax val="0"/>
          <dgm:chPref val="0"/>
        </dgm:presLayoutVars>
      </dgm:prSet>
      <dgm:spPr/>
    </dgm:pt>
    <dgm:pt modelId="{573FF997-1F61-447E-8A72-F8E1F9D50C8C}" type="pres">
      <dgm:prSet presAssocID="{AC20331B-DC78-4513-9F66-491DEB83144F}" presName="sibTrans" presStyleCnt="0"/>
      <dgm:spPr/>
    </dgm:pt>
    <dgm:pt modelId="{F44F4FD1-0A99-4381-96A1-994E99FCCC55}" type="pres">
      <dgm:prSet presAssocID="{3925003E-C0D7-45BA-B83D-0DA56979A679}" presName="compNode" presStyleCnt="0"/>
      <dgm:spPr/>
    </dgm:pt>
    <dgm:pt modelId="{D1C328CC-52D5-4BA7-870B-F42370D543F1}" type="pres">
      <dgm:prSet presAssocID="{3925003E-C0D7-45BA-B83D-0DA56979A679}" presName="bgRect" presStyleLbl="bgShp" presStyleIdx="2" presStyleCnt="5"/>
      <dgm:spPr/>
    </dgm:pt>
    <dgm:pt modelId="{2C036BB9-6F2A-4DE3-9E58-995830B1773F}" type="pres">
      <dgm:prSet presAssocID="{3925003E-C0D7-45BA-B83D-0DA56979A679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 in head"/>
        </a:ext>
      </dgm:extLst>
    </dgm:pt>
    <dgm:pt modelId="{7A6B1CFB-EF16-4056-BF15-3ED836A2AB9A}" type="pres">
      <dgm:prSet presAssocID="{3925003E-C0D7-45BA-B83D-0DA56979A679}" presName="spaceRect" presStyleCnt="0"/>
      <dgm:spPr/>
    </dgm:pt>
    <dgm:pt modelId="{5166DA1A-114A-41DA-9773-486E6E7ADBC0}" type="pres">
      <dgm:prSet presAssocID="{3925003E-C0D7-45BA-B83D-0DA56979A679}" presName="parTx" presStyleLbl="revTx" presStyleIdx="2" presStyleCnt="5">
        <dgm:presLayoutVars>
          <dgm:chMax val="0"/>
          <dgm:chPref val="0"/>
        </dgm:presLayoutVars>
      </dgm:prSet>
      <dgm:spPr/>
    </dgm:pt>
    <dgm:pt modelId="{55FC3910-E567-4AF7-AEAF-6594DFDE805B}" type="pres">
      <dgm:prSet presAssocID="{DAA382F7-BD90-43C7-8EE8-84B655BD67C7}" presName="sibTrans" presStyleCnt="0"/>
      <dgm:spPr/>
    </dgm:pt>
    <dgm:pt modelId="{AB7A3A14-1AEB-4E0C-A364-F6C6F600F48A}" type="pres">
      <dgm:prSet presAssocID="{22C29CFF-9A66-460B-9CA5-AC8906908D4B}" presName="compNode" presStyleCnt="0"/>
      <dgm:spPr/>
    </dgm:pt>
    <dgm:pt modelId="{8E03B18A-E01E-40AC-B809-CAF3B5FB49D2}" type="pres">
      <dgm:prSet presAssocID="{22C29CFF-9A66-460B-9CA5-AC8906908D4B}" presName="bgRect" presStyleLbl="bgShp" presStyleIdx="3" presStyleCnt="5"/>
      <dgm:spPr/>
    </dgm:pt>
    <dgm:pt modelId="{581A8E54-E7FA-40FF-8ABC-9AB7D6DF5676}" type="pres">
      <dgm:prSet presAssocID="{22C29CFF-9A66-460B-9CA5-AC8906908D4B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oice"/>
        </a:ext>
      </dgm:extLst>
    </dgm:pt>
    <dgm:pt modelId="{4C502A3A-F8A8-4EDD-A8C3-2C811D2B5DDB}" type="pres">
      <dgm:prSet presAssocID="{22C29CFF-9A66-460B-9CA5-AC8906908D4B}" presName="spaceRect" presStyleCnt="0"/>
      <dgm:spPr/>
    </dgm:pt>
    <dgm:pt modelId="{801920A8-4973-4D65-96F8-B3445F94869B}" type="pres">
      <dgm:prSet presAssocID="{22C29CFF-9A66-460B-9CA5-AC8906908D4B}" presName="parTx" presStyleLbl="revTx" presStyleIdx="3" presStyleCnt="5">
        <dgm:presLayoutVars>
          <dgm:chMax val="0"/>
          <dgm:chPref val="0"/>
        </dgm:presLayoutVars>
      </dgm:prSet>
      <dgm:spPr/>
    </dgm:pt>
    <dgm:pt modelId="{9CF405B4-06FE-4DF2-8E79-67556317F853}" type="pres">
      <dgm:prSet presAssocID="{2A035BDE-8767-42D1-8BD0-5C5AB75FDAC3}" presName="sibTrans" presStyleCnt="0"/>
      <dgm:spPr/>
    </dgm:pt>
    <dgm:pt modelId="{2609E4F7-8E09-439C-8CEC-EC33A26F0795}" type="pres">
      <dgm:prSet presAssocID="{92818DCA-3303-471E-BA48-2BA0E9B06C78}" presName="compNode" presStyleCnt="0"/>
      <dgm:spPr/>
    </dgm:pt>
    <dgm:pt modelId="{9E8C8A4D-C304-407A-B05A-A771F5D8B721}" type="pres">
      <dgm:prSet presAssocID="{92818DCA-3303-471E-BA48-2BA0E9B06C78}" presName="bgRect" presStyleLbl="bgShp" presStyleIdx="4" presStyleCnt="5"/>
      <dgm:spPr/>
    </dgm:pt>
    <dgm:pt modelId="{5A89EEA5-CF5D-4E08-8F70-392426DAF699}" type="pres">
      <dgm:prSet presAssocID="{92818DCA-3303-471E-BA48-2BA0E9B06C78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NA"/>
        </a:ext>
      </dgm:extLst>
    </dgm:pt>
    <dgm:pt modelId="{91FEB41C-4D47-4B58-BFBF-F831A3DA5FB1}" type="pres">
      <dgm:prSet presAssocID="{92818DCA-3303-471E-BA48-2BA0E9B06C78}" presName="spaceRect" presStyleCnt="0"/>
      <dgm:spPr/>
    </dgm:pt>
    <dgm:pt modelId="{4540AC40-AFC1-46AD-8D17-10FCC10B71D7}" type="pres">
      <dgm:prSet presAssocID="{92818DCA-3303-471E-BA48-2BA0E9B06C78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536A9B0F-ECE3-40A8-96EC-5B137CFB1576}" type="presOf" srcId="{92818DCA-3303-471E-BA48-2BA0E9B06C78}" destId="{4540AC40-AFC1-46AD-8D17-10FCC10B71D7}" srcOrd="0" destOrd="0" presId="urn:microsoft.com/office/officeart/2018/2/layout/IconVerticalSolidList"/>
    <dgm:cxn modelId="{09DAB11C-8913-4C34-910F-01E539F19967}" type="presOf" srcId="{91628421-0012-4606-A49B-6AD70CB21401}" destId="{41614159-A66E-4116-8D7A-B8535F340662}" srcOrd="0" destOrd="0" presId="urn:microsoft.com/office/officeart/2018/2/layout/IconVerticalSolidList"/>
    <dgm:cxn modelId="{BF74F62D-0CEB-4E5C-93B4-0322F7B0DE96}" type="presOf" srcId="{3925003E-C0D7-45BA-B83D-0DA56979A679}" destId="{5166DA1A-114A-41DA-9773-486E6E7ADBC0}" srcOrd="0" destOrd="0" presId="urn:microsoft.com/office/officeart/2018/2/layout/IconVerticalSolidList"/>
    <dgm:cxn modelId="{50FB8338-396B-4B5B-848B-4CEDF7663657}" type="presOf" srcId="{4A1867EB-1E4F-4704-8043-C5B1E4CA9EE3}" destId="{1EBEEFFE-515D-4D16-8301-DCDBDAF5D140}" srcOrd="0" destOrd="0" presId="urn:microsoft.com/office/officeart/2018/2/layout/IconVerticalSolidList"/>
    <dgm:cxn modelId="{D0EE075F-3444-4F22-9AB9-274F9EBE3EBE}" type="presOf" srcId="{21E448B0-7D61-4153-A9C2-1FD9C0E96DC6}" destId="{B246A82D-5CE5-458D-B5AE-B0DCEB5EE059}" srcOrd="0" destOrd="0" presId="urn:microsoft.com/office/officeart/2018/2/layout/IconVerticalSolidList"/>
    <dgm:cxn modelId="{FB6CB176-6E55-4129-B951-8703E2CFEE85}" srcId="{91628421-0012-4606-A49B-6AD70CB21401}" destId="{3925003E-C0D7-45BA-B83D-0DA56979A679}" srcOrd="2" destOrd="0" parTransId="{CEC3DDF4-EC2A-49E6-BB13-26682F119813}" sibTransId="{DAA382F7-BD90-43C7-8EE8-84B655BD67C7}"/>
    <dgm:cxn modelId="{633B0A78-801F-4522-A7F1-3E12743F66A1}" srcId="{91628421-0012-4606-A49B-6AD70CB21401}" destId="{92818DCA-3303-471E-BA48-2BA0E9B06C78}" srcOrd="4" destOrd="0" parTransId="{71C0AEB4-B619-4EFE-878C-8C5844B43F2B}" sibTransId="{95824246-1899-4EFB-A1E6-CE78463BBA4B}"/>
    <dgm:cxn modelId="{A33559CA-4C9A-4192-8F82-4077C0FE3B25}" srcId="{91628421-0012-4606-A49B-6AD70CB21401}" destId="{22C29CFF-9A66-460B-9CA5-AC8906908D4B}" srcOrd="3" destOrd="0" parTransId="{390C85F5-8B4E-4CBB-817A-3B7C985AEEB3}" sibTransId="{2A035BDE-8767-42D1-8BD0-5C5AB75FDAC3}"/>
    <dgm:cxn modelId="{A222FDDD-27B0-4F9E-89FA-3D8EA6C278D3}" srcId="{91628421-0012-4606-A49B-6AD70CB21401}" destId="{21E448B0-7D61-4153-A9C2-1FD9C0E96DC6}" srcOrd="1" destOrd="0" parTransId="{9B4EA1D7-9F64-470A-AEE2-C1BEF05AE13B}" sibTransId="{AC20331B-DC78-4513-9F66-491DEB83144F}"/>
    <dgm:cxn modelId="{94D0F4EA-4A5C-4D8B-8302-7935B5120DA9}" type="presOf" srcId="{22C29CFF-9A66-460B-9CA5-AC8906908D4B}" destId="{801920A8-4973-4D65-96F8-B3445F94869B}" srcOrd="0" destOrd="0" presId="urn:microsoft.com/office/officeart/2018/2/layout/IconVerticalSolidList"/>
    <dgm:cxn modelId="{3CCBE5FF-8E6E-46E2-9342-D57ABA152CAB}" srcId="{91628421-0012-4606-A49B-6AD70CB21401}" destId="{4A1867EB-1E4F-4704-8043-C5B1E4CA9EE3}" srcOrd="0" destOrd="0" parTransId="{3E8F2423-015C-47C3-83F4-A4C17F09879B}" sibTransId="{79A61086-11F3-49E2-ADE5-912EA9C1B2BA}"/>
    <dgm:cxn modelId="{FE60563E-279A-461D-898D-CE5C8A4CE083}" type="presParOf" srcId="{41614159-A66E-4116-8D7A-B8535F340662}" destId="{B207986A-A535-4307-9479-64689463B4C3}" srcOrd="0" destOrd="0" presId="urn:microsoft.com/office/officeart/2018/2/layout/IconVerticalSolidList"/>
    <dgm:cxn modelId="{67ED4645-2B66-4F31-8077-130C7148CFBB}" type="presParOf" srcId="{B207986A-A535-4307-9479-64689463B4C3}" destId="{1EBCAFA1-1080-4B75-9829-1CABAE37E8C2}" srcOrd="0" destOrd="0" presId="urn:microsoft.com/office/officeart/2018/2/layout/IconVerticalSolidList"/>
    <dgm:cxn modelId="{7AD4F26D-B09E-4B1A-891A-3B3B023CEA4C}" type="presParOf" srcId="{B207986A-A535-4307-9479-64689463B4C3}" destId="{9826C227-3E08-4062-B994-F6D81A0775D2}" srcOrd="1" destOrd="0" presId="urn:microsoft.com/office/officeart/2018/2/layout/IconVerticalSolidList"/>
    <dgm:cxn modelId="{DDE513C3-9DA1-465C-9D13-322D74054765}" type="presParOf" srcId="{B207986A-A535-4307-9479-64689463B4C3}" destId="{5D05FE8C-D66C-433C-901F-63E7F982B272}" srcOrd="2" destOrd="0" presId="urn:microsoft.com/office/officeart/2018/2/layout/IconVerticalSolidList"/>
    <dgm:cxn modelId="{AEA6C130-39FA-42D1-B383-02189813B1AA}" type="presParOf" srcId="{B207986A-A535-4307-9479-64689463B4C3}" destId="{1EBEEFFE-515D-4D16-8301-DCDBDAF5D140}" srcOrd="3" destOrd="0" presId="urn:microsoft.com/office/officeart/2018/2/layout/IconVerticalSolidList"/>
    <dgm:cxn modelId="{AD648138-0AF3-4220-9DA5-0F98EAC3AB9F}" type="presParOf" srcId="{41614159-A66E-4116-8D7A-B8535F340662}" destId="{50D8E121-2ED3-4353-BCFD-7758776ECBF3}" srcOrd="1" destOrd="0" presId="urn:microsoft.com/office/officeart/2018/2/layout/IconVerticalSolidList"/>
    <dgm:cxn modelId="{A17C9D6A-97A0-45AA-9FAE-C408F680D37C}" type="presParOf" srcId="{41614159-A66E-4116-8D7A-B8535F340662}" destId="{BFC9CA14-B790-4290-BFA0-4264F51A5169}" srcOrd="2" destOrd="0" presId="urn:microsoft.com/office/officeart/2018/2/layout/IconVerticalSolidList"/>
    <dgm:cxn modelId="{133453C2-F57E-4790-9144-DEFDDE25EF0E}" type="presParOf" srcId="{BFC9CA14-B790-4290-BFA0-4264F51A5169}" destId="{9471E071-84E6-433A-AF13-D83B62BF087F}" srcOrd="0" destOrd="0" presId="urn:microsoft.com/office/officeart/2018/2/layout/IconVerticalSolidList"/>
    <dgm:cxn modelId="{B97C5F25-E75E-44FE-8F42-BE81F01B3B41}" type="presParOf" srcId="{BFC9CA14-B790-4290-BFA0-4264F51A5169}" destId="{B7F81328-F450-499A-ACDD-22E394E14803}" srcOrd="1" destOrd="0" presId="urn:microsoft.com/office/officeart/2018/2/layout/IconVerticalSolidList"/>
    <dgm:cxn modelId="{FD760159-8FF6-455A-AFF7-28E40527624B}" type="presParOf" srcId="{BFC9CA14-B790-4290-BFA0-4264F51A5169}" destId="{5A482679-FD0C-4250-B1B2-FBF51231FE3E}" srcOrd="2" destOrd="0" presId="urn:microsoft.com/office/officeart/2018/2/layout/IconVerticalSolidList"/>
    <dgm:cxn modelId="{EB1B6D8A-0A72-466F-9586-42B2AB7B131F}" type="presParOf" srcId="{BFC9CA14-B790-4290-BFA0-4264F51A5169}" destId="{B246A82D-5CE5-458D-B5AE-B0DCEB5EE059}" srcOrd="3" destOrd="0" presId="urn:microsoft.com/office/officeart/2018/2/layout/IconVerticalSolidList"/>
    <dgm:cxn modelId="{D160DB2A-3502-43D6-B596-A4C1E4838BF6}" type="presParOf" srcId="{41614159-A66E-4116-8D7A-B8535F340662}" destId="{573FF997-1F61-447E-8A72-F8E1F9D50C8C}" srcOrd="3" destOrd="0" presId="urn:microsoft.com/office/officeart/2018/2/layout/IconVerticalSolidList"/>
    <dgm:cxn modelId="{C43D3F92-0D09-441E-9FCB-F27DA3E8F706}" type="presParOf" srcId="{41614159-A66E-4116-8D7A-B8535F340662}" destId="{F44F4FD1-0A99-4381-96A1-994E99FCCC55}" srcOrd="4" destOrd="0" presId="urn:microsoft.com/office/officeart/2018/2/layout/IconVerticalSolidList"/>
    <dgm:cxn modelId="{81F30546-729F-443C-B88E-AB0C2B10A3FA}" type="presParOf" srcId="{F44F4FD1-0A99-4381-96A1-994E99FCCC55}" destId="{D1C328CC-52D5-4BA7-870B-F42370D543F1}" srcOrd="0" destOrd="0" presId="urn:microsoft.com/office/officeart/2018/2/layout/IconVerticalSolidList"/>
    <dgm:cxn modelId="{8D7CD76D-C8E0-47E2-A3DE-875000A894E4}" type="presParOf" srcId="{F44F4FD1-0A99-4381-96A1-994E99FCCC55}" destId="{2C036BB9-6F2A-4DE3-9E58-995830B1773F}" srcOrd="1" destOrd="0" presId="urn:microsoft.com/office/officeart/2018/2/layout/IconVerticalSolidList"/>
    <dgm:cxn modelId="{DE6606DE-CD79-4178-A6B9-664C3563E756}" type="presParOf" srcId="{F44F4FD1-0A99-4381-96A1-994E99FCCC55}" destId="{7A6B1CFB-EF16-4056-BF15-3ED836A2AB9A}" srcOrd="2" destOrd="0" presId="urn:microsoft.com/office/officeart/2018/2/layout/IconVerticalSolidList"/>
    <dgm:cxn modelId="{CBE469AA-C7DA-43FE-B3AB-6790C95979E6}" type="presParOf" srcId="{F44F4FD1-0A99-4381-96A1-994E99FCCC55}" destId="{5166DA1A-114A-41DA-9773-486E6E7ADBC0}" srcOrd="3" destOrd="0" presId="urn:microsoft.com/office/officeart/2018/2/layout/IconVerticalSolidList"/>
    <dgm:cxn modelId="{5E2619E3-31A3-483E-8511-3A034A62E1B0}" type="presParOf" srcId="{41614159-A66E-4116-8D7A-B8535F340662}" destId="{55FC3910-E567-4AF7-AEAF-6594DFDE805B}" srcOrd="5" destOrd="0" presId="urn:microsoft.com/office/officeart/2018/2/layout/IconVerticalSolidList"/>
    <dgm:cxn modelId="{866904B7-2452-4325-850F-AFD1B455FA4F}" type="presParOf" srcId="{41614159-A66E-4116-8D7A-B8535F340662}" destId="{AB7A3A14-1AEB-4E0C-A364-F6C6F600F48A}" srcOrd="6" destOrd="0" presId="urn:microsoft.com/office/officeart/2018/2/layout/IconVerticalSolidList"/>
    <dgm:cxn modelId="{C78136CE-ABA3-4CBF-97CE-55DE31AD73B4}" type="presParOf" srcId="{AB7A3A14-1AEB-4E0C-A364-F6C6F600F48A}" destId="{8E03B18A-E01E-40AC-B809-CAF3B5FB49D2}" srcOrd="0" destOrd="0" presId="urn:microsoft.com/office/officeart/2018/2/layout/IconVerticalSolidList"/>
    <dgm:cxn modelId="{02AE7ED2-5B61-4695-B692-9B575A0EEE99}" type="presParOf" srcId="{AB7A3A14-1AEB-4E0C-A364-F6C6F600F48A}" destId="{581A8E54-E7FA-40FF-8ABC-9AB7D6DF5676}" srcOrd="1" destOrd="0" presId="urn:microsoft.com/office/officeart/2018/2/layout/IconVerticalSolidList"/>
    <dgm:cxn modelId="{A7882305-045C-4E8C-91BE-D734A866276B}" type="presParOf" srcId="{AB7A3A14-1AEB-4E0C-A364-F6C6F600F48A}" destId="{4C502A3A-F8A8-4EDD-A8C3-2C811D2B5DDB}" srcOrd="2" destOrd="0" presId="urn:microsoft.com/office/officeart/2018/2/layout/IconVerticalSolidList"/>
    <dgm:cxn modelId="{F577A0C7-1FC7-48C9-8481-6DEECFE0CBDE}" type="presParOf" srcId="{AB7A3A14-1AEB-4E0C-A364-F6C6F600F48A}" destId="{801920A8-4973-4D65-96F8-B3445F94869B}" srcOrd="3" destOrd="0" presId="urn:microsoft.com/office/officeart/2018/2/layout/IconVerticalSolidList"/>
    <dgm:cxn modelId="{B5F840DB-E55A-44D0-AD7B-9E095135A43B}" type="presParOf" srcId="{41614159-A66E-4116-8D7A-B8535F340662}" destId="{9CF405B4-06FE-4DF2-8E79-67556317F853}" srcOrd="7" destOrd="0" presId="urn:microsoft.com/office/officeart/2018/2/layout/IconVerticalSolidList"/>
    <dgm:cxn modelId="{79C6F04D-5572-4AFF-8764-C89960A24888}" type="presParOf" srcId="{41614159-A66E-4116-8D7A-B8535F340662}" destId="{2609E4F7-8E09-439C-8CEC-EC33A26F0795}" srcOrd="8" destOrd="0" presId="urn:microsoft.com/office/officeart/2018/2/layout/IconVerticalSolidList"/>
    <dgm:cxn modelId="{722F5FBF-E045-4C95-9973-C907E373BAB6}" type="presParOf" srcId="{2609E4F7-8E09-439C-8CEC-EC33A26F0795}" destId="{9E8C8A4D-C304-407A-B05A-A771F5D8B721}" srcOrd="0" destOrd="0" presId="urn:microsoft.com/office/officeart/2018/2/layout/IconVerticalSolidList"/>
    <dgm:cxn modelId="{DD28B5C0-DB32-4DF4-9B3F-3A6C88EBB153}" type="presParOf" srcId="{2609E4F7-8E09-439C-8CEC-EC33A26F0795}" destId="{5A89EEA5-CF5D-4E08-8F70-392426DAF699}" srcOrd="1" destOrd="0" presId="urn:microsoft.com/office/officeart/2018/2/layout/IconVerticalSolidList"/>
    <dgm:cxn modelId="{EF97C1FE-B328-42BF-99BD-49AF0F0A5AE7}" type="presParOf" srcId="{2609E4F7-8E09-439C-8CEC-EC33A26F0795}" destId="{91FEB41C-4D47-4B58-BFBF-F831A3DA5FB1}" srcOrd="2" destOrd="0" presId="urn:microsoft.com/office/officeart/2018/2/layout/IconVerticalSolidList"/>
    <dgm:cxn modelId="{633ED02B-A2F0-4D8B-8C65-1EACE7F286EC}" type="presParOf" srcId="{2609E4F7-8E09-439C-8CEC-EC33A26F0795}" destId="{4540AC40-AFC1-46AD-8D17-10FCC10B71D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171F3E6-59FF-4445-AA22-BFE42863EAA5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D658E264-C425-411D-A716-E7986C8865FE}">
      <dgm:prSet/>
      <dgm:spPr/>
      <dgm:t>
        <a:bodyPr/>
        <a:lstStyle/>
        <a:p>
          <a:r>
            <a:rPr lang="en-US"/>
            <a:t>How useful are the given features in predicting Parkinson’s disease (Using logistic regression and analyzing the p coefficients)</a:t>
          </a:r>
        </a:p>
      </dgm:t>
    </dgm:pt>
    <dgm:pt modelId="{22009E2E-F389-4325-835D-8ACB6EA53E2C}" type="parTrans" cxnId="{5213578A-2F42-425C-BFC7-9D4667C7F637}">
      <dgm:prSet/>
      <dgm:spPr/>
      <dgm:t>
        <a:bodyPr/>
        <a:lstStyle/>
        <a:p>
          <a:endParaRPr lang="en-US"/>
        </a:p>
      </dgm:t>
    </dgm:pt>
    <dgm:pt modelId="{A0168454-2BEA-4020-B626-E1E988C62E12}" type="sibTrans" cxnId="{5213578A-2F42-425C-BFC7-9D4667C7F637}">
      <dgm:prSet/>
      <dgm:spPr/>
      <dgm:t>
        <a:bodyPr/>
        <a:lstStyle/>
        <a:p>
          <a:endParaRPr lang="en-US"/>
        </a:p>
      </dgm:t>
    </dgm:pt>
    <dgm:pt modelId="{011B053E-22B6-4945-BDC3-9D2E71108651}">
      <dgm:prSet/>
      <dgm:spPr/>
      <dgm:t>
        <a:bodyPr/>
        <a:lstStyle/>
        <a:p>
          <a:r>
            <a:rPr lang="en-US"/>
            <a:t>Parametric vs non-parametric models, which perform better?</a:t>
          </a:r>
        </a:p>
      </dgm:t>
    </dgm:pt>
    <dgm:pt modelId="{D1B2D6EC-C24A-4344-87AD-3F00102A4D32}" type="parTrans" cxnId="{69F68E90-4AD8-4122-B27E-6D12C32F829B}">
      <dgm:prSet/>
      <dgm:spPr/>
      <dgm:t>
        <a:bodyPr/>
        <a:lstStyle/>
        <a:p>
          <a:endParaRPr lang="en-US"/>
        </a:p>
      </dgm:t>
    </dgm:pt>
    <dgm:pt modelId="{6D29D0FD-9CC0-4E13-9FF7-861B91A6ABE0}" type="sibTrans" cxnId="{69F68E90-4AD8-4122-B27E-6D12C32F829B}">
      <dgm:prSet/>
      <dgm:spPr/>
      <dgm:t>
        <a:bodyPr/>
        <a:lstStyle/>
        <a:p>
          <a:endParaRPr lang="en-US"/>
        </a:p>
      </dgm:t>
    </dgm:pt>
    <dgm:pt modelId="{7AE621D4-C601-47CD-AAC2-542D353F34A2}">
      <dgm:prSet/>
      <dgm:spPr/>
      <dgm:t>
        <a:bodyPr/>
        <a:lstStyle/>
        <a:p>
          <a:r>
            <a:rPr lang="en-US"/>
            <a:t>Can regularization and dimension reduction improve logistic regression?</a:t>
          </a:r>
        </a:p>
      </dgm:t>
    </dgm:pt>
    <dgm:pt modelId="{74367167-D38D-44C1-868E-2603BB3C8657}" type="parTrans" cxnId="{E5234DE3-E850-432D-981A-DD0FDD3829CB}">
      <dgm:prSet/>
      <dgm:spPr/>
      <dgm:t>
        <a:bodyPr/>
        <a:lstStyle/>
        <a:p>
          <a:endParaRPr lang="en-US"/>
        </a:p>
      </dgm:t>
    </dgm:pt>
    <dgm:pt modelId="{65986D94-C450-4084-B205-2D19DF2CC668}" type="sibTrans" cxnId="{E5234DE3-E850-432D-981A-DD0FDD3829CB}">
      <dgm:prSet/>
      <dgm:spPr/>
      <dgm:t>
        <a:bodyPr/>
        <a:lstStyle/>
        <a:p>
          <a:endParaRPr lang="en-US"/>
        </a:p>
      </dgm:t>
    </dgm:pt>
    <dgm:pt modelId="{C480338C-CD8C-46CC-B587-335A41E8195E}">
      <dgm:prSet/>
      <dgm:spPr/>
      <dgm:t>
        <a:bodyPr/>
        <a:lstStyle/>
        <a:p>
          <a:r>
            <a:rPr lang="en-US"/>
            <a:t>What is the trade-off between model interpretability and predictive performance in diagnosing Parkinson’s disease?</a:t>
          </a:r>
        </a:p>
      </dgm:t>
    </dgm:pt>
    <dgm:pt modelId="{CCA16805-3154-40D9-8479-27FBABD34773}" type="parTrans" cxnId="{18EC8374-B896-408B-BD46-FFBE5495012F}">
      <dgm:prSet/>
      <dgm:spPr/>
      <dgm:t>
        <a:bodyPr/>
        <a:lstStyle/>
        <a:p>
          <a:endParaRPr lang="en-US"/>
        </a:p>
      </dgm:t>
    </dgm:pt>
    <dgm:pt modelId="{43778857-4081-452D-A6BE-AA71B7A335C1}" type="sibTrans" cxnId="{18EC8374-B896-408B-BD46-FFBE5495012F}">
      <dgm:prSet/>
      <dgm:spPr/>
      <dgm:t>
        <a:bodyPr/>
        <a:lstStyle/>
        <a:p>
          <a:endParaRPr lang="en-US"/>
        </a:p>
      </dgm:t>
    </dgm:pt>
    <dgm:pt modelId="{DBC891EA-C52D-4418-85F7-5355C55D5E59}">
      <dgm:prSet/>
      <dgm:spPr/>
      <dgm:t>
        <a:bodyPr/>
        <a:lstStyle/>
        <a:p>
          <a:r>
            <a:rPr lang="en-US"/>
            <a:t>How does model performance vary with different cross-validation strategies (e.g., k-fold vs leave-one-out)?</a:t>
          </a:r>
        </a:p>
      </dgm:t>
    </dgm:pt>
    <dgm:pt modelId="{A62EE150-1CA5-45C1-B9EF-E999F32B60F4}" type="parTrans" cxnId="{88C5A6BB-3350-4D04-90A4-91B1D96C97E4}">
      <dgm:prSet/>
      <dgm:spPr/>
      <dgm:t>
        <a:bodyPr/>
        <a:lstStyle/>
        <a:p>
          <a:endParaRPr lang="en-US"/>
        </a:p>
      </dgm:t>
    </dgm:pt>
    <dgm:pt modelId="{37E4046E-32FC-4800-9D9E-15B0EC80AA58}" type="sibTrans" cxnId="{88C5A6BB-3350-4D04-90A4-91B1D96C97E4}">
      <dgm:prSet/>
      <dgm:spPr/>
      <dgm:t>
        <a:bodyPr/>
        <a:lstStyle/>
        <a:p>
          <a:endParaRPr lang="en-US"/>
        </a:p>
      </dgm:t>
    </dgm:pt>
    <dgm:pt modelId="{FF29BBE0-7405-40F4-ABEB-A2871C977EE1}" type="pres">
      <dgm:prSet presAssocID="{5171F3E6-59FF-4445-AA22-BFE42863EAA5}" presName="linear" presStyleCnt="0">
        <dgm:presLayoutVars>
          <dgm:animLvl val="lvl"/>
          <dgm:resizeHandles val="exact"/>
        </dgm:presLayoutVars>
      </dgm:prSet>
      <dgm:spPr/>
    </dgm:pt>
    <dgm:pt modelId="{E77FB904-1A66-472D-B1BD-9590AA4D9837}" type="pres">
      <dgm:prSet presAssocID="{D658E264-C425-411D-A716-E7986C8865FE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284860DB-4E0D-461A-8539-1CA3E8AA58FD}" type="pres">
      <dgm:prSet presAssocID="{A0168454-2BEA-4020-B626-E1E988C62E12}" presName="spacer" presStyleCnt="0"/>
      <dgm:spPr/>
    </dgm:pt>
    <dgm:pt modelId="{F85F14D6-E054-4578-A586-2C7BAB7C9B25}" type="pres">
      <dgm:prSet presAssocID="{011B053E-22B6-4945-BDC3-9D2E71108651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3A5868B5-A41C-4839-BCFC-C8E655815234}" type="pres">
      <dgm:prSet presAssocID="{6D29D0FD-9CC0-4E13-9FF7-861B91A6ABE0}" presName="spacer" presStyleCnt="0"/>
      <dgm:spPr/>
    </dgm:pt>
    <dgm:pt modelId="{2E34B152-25B3-4C88-994C-0C1A88A08D96}" type="pres">
      <dgm:prSet presAssocID="{7AE621D4-C601-47CD-AAC2-542D353F34A2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BBC8366C-5BB9-4A5A-8A2D-958AEF68FECD}" type="pres">
      <dgm:prSet presAssocID="{65986D94-C450-4084-B205-2D19DF2CC668}" presName="spacer" presStyleCnt="0"/>
      <dgm:spPr/>
    </dgm:pt>
    <dgm:pt modelId="{EFFE7E51-6FC4-4EF9-813B-964A3152E9E5}" type="pres">
      <dgm:prSet presAssocID="{C480338C-CD8C-46CC-B587-335A41E8195E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B1E5B99F-3B74-4CEE-BEFF-E54C65921AE9}" type="pres">
      <dgm:prSet presAssocID="{43778857-4081-452D-A6BE-AA71B7A335C1}" presName="spacer" presStyleCnt="0"/>
      <dgm:spPr/>
    </dgm:pt>
    <dgm:pt modelId="{DB0BC345-5C33-43ED-86A0-ECE98FD090D2}" type="pres">
      <dgm:prSet presAssocID="{DBC891EA-C52D-4418-85F7-5355C55D5E59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1BAFE20D-3984-4895-A90B-3B7F37E52B7B}" type="presOf" srcId="{5171F3E6-59FF-4445-AA22-BFE42863EAA5}" destId="{FF29BBE0-7405-40F4-ABEB-A2871C977EE1}" srcOrd="0" destOrd="0" presId="urn:microsoft.com/office/officeart/2005/8/layout/vList2"/>
    <dgm:cxn modelId="{0F7E7E18-7AF5-4E61-A29B-0AFC14BF281E}" type="presOf" srcId="{C480338C-CD8C-46CC-B587-335A41E8195E}" destId="{EFFE7E51-6FC4-4EF9-813B-964A3152E9E5}" srcOrd="0" destOrd="0" presId="urn:microsoft.com/office/officeart/2005/8/layout/vList2"/>
    <dgm:cxn modelId="{B8B0D11A-190B-4768-9A3A-A7FB757554F4}" type="presOf" srcId="{011B053E-22B6-4945-BDC3-9D2E71108651}" destId="{F85F14D6-E054-4578-A586-2C7BAB7C9B25}" srcOrd="0" destOrd="0" presId="urn:microsoft.com/office/officeart/2005/8/layout/vList2"/>
    <dgm:cxn modelId="{E3E4BD5C-3062-42C6-A803-19002E8EF820}" type="presOf" srcId="{7AE621D4-C601-47CD-AAC2-542D353F34A2}" destId="{2E34B152-25B3-4C88-994C-0C1A88A08D96}" srcOrd="0" destOrd="0" presId="urn:microsoft.com/office/officeart/2005/8/layout/vList2"/>
    <dgm:cxn modelId="{18EC8374-B896-408B-BD46-FFBE5495012F}" srcId="{5171F3E6-59FF-4445-AA22-BFE42863EAA5}" destId="{C480338C-CD8C-46CC-B587-335A41E8195E}" srcOrd="3" destOrd="0" parTransId="{CCA16805-3154-40D9-8479-27FBABD34773}" sibTransId="{43778857-4081-452D-A6BE-AA71B7A335C1}"/>
    <dgm:cxn modelId="{5A40A47B-95FA-40AD-84A8-14721BDA4AC5}" type="presOf" srcId="{D658E264-C425-411D-A716-E7986C8865FE}" destId="{E77FB904-1A66-472D-B1BD-9590AA4D9837}" srcOrd="0" destOrd="0" presId="urn:microsoft.com/office/officeart/2005/8/layout/vList2"/>
    <dgm:cxn modelId="{5213578A-2F42-425C-BFC7-9D4667C7F637}" srcId="{5171F3E6-59FF-4445-AA22-BFE42863EAA5}" destId="{D658E264-C425-411D-A716-E7986C8865FE}" srcOrd="0" destOrd="0" parTransId="{22009E2E-F389-4325-835D-8ACB6EA53E2C}" sibTransId="{A0168454-2BEA-4020-B626-E1E988C62E12}"/>
    <dgm:cxn modelId="{69F68E90-4AD8-4122-B27E-6D12C32F829B}" srcId="{5171F3E6-59FF-4445-AA22-BFE42863EAA5}" destId="{011B053E-22B6-4945-BDC3-9D2E71108651}" srcOrd="1" destOrd="0" parTransId="{D1B2D6EC-C24A-4344-87AD-3F00102A4D32}" sibTransId="{6D29D0FD-9CC0-4E13-9FF7-861B91A6ABE0}"/>
    <dgm:cxn modelId="{DA6CE3A8-EB7B-4EAE-B3CF-98B008C1AC4C}" type="presOf" srcId="{DBC891EA-C52D-4418-85F7-5355C55D5E59}" destId="{DB0BC345-5C33-43ED-86A0-ECE98FD090D2}" srcOrd="0" destOrd="0" presId="urn:microsoft.com/office/officeart/2005/8/layout/vList2"/>
    <dgm:cxn modelId="{88C5A6BB-3350-4D04-90A4-91B1D96C97E4}" srcId="{5171F3E6-59FF-4445-AA22-BFE42863EAA5}" destId="{DBC891EA-C52D-4418-85F7-5355C55D5E59}" srcOrd="4" destOrd="0" parTransId="{A62EE150-1CA5-45C1-B9EF-E999F32B60F4}" sibTransId="{37E4046E-32FC-4800-9D9E-15B0EC80AA58}"/>
    <dgm:cxn modelId="{E5234DE3-E850-432D-981A-DD0FDD3829CB}" srcId="{5171F3E6-59FF-4445-AA22-BFE42863EAA5}" destId="{7AE621D4-C601-47CD-AAC2-542D353F34A2}" srcOrd="2" destOrd="0" parTransId="{74367167-D38D-44C1-868E-2603BB3C8657}" sibTransId="{65986D94-C450-4084-B205-2D19DF2CC668}"/>
    <dgm:cxn modelId="{74214292-F647-4F0E-A785-169D6B6DC837}" type="presParOf" srcId="{FF29BBE0-7405-40F4-ABEB-A2871C977EE1}" destId="{E77FB904-1A66-472D-B1BD-9590AA4D9837}" srcOrd="0" destOrd="0" presId="urn:microsoft.com/office/officeart/2005/8/layout/vList2"/>
    <dgm:cxn modelId="{76EEC1D0-078A-4073-B130-B7F3414208EA}" type="presParOf" srcId="{FF29BBE0-7405-40F4-ABEB-A2871C977EE1}" destId="{284860DB-4E0D-461A-8539-1CA3E8AA58FD}" srcOrd="1" destOrd="0" presId="urn:microsoft.com/office/officeart/2005/8/layout/vList2"/>
    <dgm:cxn modelId="{DF6569CA-90D0-4F44-9B0F-E82CFA048382}" type="presParOf" srcId="{FF29BBE0-7405-40F4-ABEB-A2871C977EE1}" destId="{F85F14D6-E054-4578-A586-2C7BAB7C9B25}" srcOrd="2" destOrd="0" presId="urn:microsoft.com/office/officeart/2005/8/layout/vList2"/>
    <dgm:cxn modelId="{90C34884-79A8-4174-AA49-775C99E16FC4}" type="presParOf" srcId="{FF29BBE0-7405-40F4-ABEB-A2871C977EE1}" destId="{3A5868B5-A41C-4839-BCFC-C8E655815234}" srcOrd="3" destOrd="0" presId="urn:microsoft.com/office/officeart/2005/8/layout/vList2"/>
    <dgm:cxn modelId="{39D74A80-D014-4799-9170-D1EC72D2ADEB}" type="presParOf" srcId="{FF29BBE0-7405-40F4-ABEB-A2871C977EE1}" destId="{2E34B152-25B3-4C88-994C-0C1A88A08D96}" srcOrd="4" destOrd="0" presId="urn:microsoft.com/office/officeart/2005/8/layout/vList2"/>
    <dgm:cxn modelId="{40E5609E-CC7E-4A46-93EF-14605D39A87A}" type="presParOf" srcId="{FF29BBE0-7405-40F4-ABEB-A2871C977EE1}" destId="{BBC8366C-5BB9-4A5A-8A2D-958AEF68FECD}" srcOrd="5" destOrd="0" presId="urn:microsoft.com/office/officeart/2005/8/layout/vList2"/>
    <dgm:cxn modelId="{64A7C7F6-80A8-4063-BB88-0DC18CD6C0B1}" type="presParOf" srcId="{FF29BBE0-7405-40F4-ABEB-A2871C977EE1}" destId="{EFFE7E51-6FC4-4EF9-813B-964A3152E9E5}" srcOrd="6" destOrd="0" presId="urn:microsoft.com/office/officeart/2005/8/layout/vList2"/>
    <dgm:cxn modelId="{EE934030-3ABC-4288-BA5A-B5D43B38096F}" type="presParOf" srcId="{FF29BBE0-7405-40F4-ABEB-A2871C977EE1}" destId="{B1E5B99F-3B74-4CEE-BEFF-E54C65921AE9}" srcOrd="7" destOrd="0" presId="urn:microsoft.com/office/officeart/2005/8/layout/vList2"/>
    <dgm:cxn modelId="{CD08444A-B017-4910-8406-C76C65FF633B}" type="presParOf" srcId="{FF29BBE0-7405-40F4-ABEB-A2871C977EE1}" destId="{DB0BC345-5C33-43ED-86A0-ECE98FD090D2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A8E5921-BF95-4CEB-A43D-2B7634C0F95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5" csCatId="colorful" phldr="1"/>
      <dgm:spPr/>
      <dgm:t>
        <a:bodyPr/>
        <a:lstStyle/>
        <a:p>
          <a:endParaRPr lang="en-US"/>
        </a:p>
      </dgm:t>
    </dgm:pt>
    <dgm:pt modelId="{65657167-C77C-43AF-97B0-751A3C0164C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From the bar plot on the previous slide, we observe that </a:t>
          </a:r>
          <a:r>
            <a:rPr lang="en-US" b="1"/>
            <a:t>non-parametric models generally outperformed parametric models</a:t>
          </a:r>
          <a:r>
            <a:rPr lang="en-US"/>
            <a:t> in terms of predictive metrics.</a:t>
          </a:r>
        </a:p>
      </dgm:t>
    </dgm:pt>
    <dgm:pt modelId="{8D909A10-A10F-4721-BD92-C922DADD4945}" type="parTrans" cxnId="{214B1BED-3A49-42F0-8BC6-047EECA99C64}">
      <dgm:prSet/>
      <dgm:spPr/>
      <dgm:t>
        <a:bodyPr/>
        <a:lstStyle/>
        <a:p>
          <a:endParaRPr lang="en-US"/>
        </a:p>
      </dgm:t>
    </dgm:pt>
    <dgm:pt modelId="{437C43CD-22F2-45AA-A111-5D2835AA9DB5}" type="sibTrans" cxnId="{214B1BED-3A49-42F0-8BC6-047EECA99C64}">
      <dgm:prSet/>
      <dgm:spPr/>
      <dgm:t>
        <a:bodyPr/>
        <a:lstStyle/>
        <a:p>
          <a:endParaRPr lang="en-US"/>
        </a:p>
      </dgm:t>
    </dgm:pt>
    <dgm:pt modelId="{56A8F435-1FA0-4F01-8B8B-9BAAC5F3A52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Note: Cross-validation was used for models like lasso, ridge, KNN, SVM and Boosting to tune hyperparameters and prevent overfitting.</a:t>
          </a:r>
          <a:br>
            <a:rPr lang="en-US" b="1" dirty="0"/>
          </a:br>
          <a:r>
            <a:rPr lang="en-US" b="1" dirty="0"/>
            <a:t>For LDA, the first five features were removed due to constant within-class variance, which violated model assumptions.</a:t>
          </a:r>
          <a:endParaRPr lang="en-US" dirty="0"/>
        </a:p>
      </dgm:t>
    </dgm:pt>
    <dgm:pt modelId="{27D803A5-F52A-4E61-A166-425C7D2EDA23}" type="sibTrans" cxnId="{6FD73331-F27F-4C9E-83A0-B53843388A23}">
      <dgm:prSet/>
      <dgm:spPr/>
      <dgm:t>
        <a:bodyPr/>
        <a:lstStyle/>
        <a:p>
          <a:endParaRPr lang="en-US"/>
        </a:p>
      </dgm:t>
    </dgm:pt>
    <dgm:pt modelId="{11EA81CF-2B68-403C-BE42-A21D9DDD3369}" type="parTrans" cxnId="{6FD73331-F27F-4C9E-83A0-B53843388A23}">
      <dgm:prSet/>
      <dgm:spPr/>
      <dgm:t>
        <a:bodyPr/>
        <a:lstStyle/>
        <a:p>
          <a:endParaRPr lang="en-US"/>
        </a:p>
      </dgm:t>
    </dgm:pt>
    <dgm:pt modelId="{267438F5-375B-4DC3-B756-0ACDAAA56EB5}" type="pres">
      <dgm:prSet presAssocID="{FA8E5921-BF95-4CEB-A43D-2B7634C0F95E}" presName="root" presStyleCnt="0">
        <dgm:presLayoutVars>
          <dgm:dir/>
          <dgm:resizeHandles val="exact"/>
        </dgm:presLayoutVars>
      </dgm:prSet>
      <dgm:spPr/>
    </dgm:pt>
    <dgm:pt modelId="{31B3224D-1B20-4FEA-84D7-56D8D97C54B4}" type="pres">
      <dgm:prSet presAssocID="{65657167-C77C-43AF-97B0-751A3C0164C7}" presName="compNode" presStyleCnt="0"/>
      <dgm:spPr/>
    </dgm:pt>
    <dgm:pt modelId="{D00FDBFE-7C5A-4090-92EF-8AE7EC8C3ABD}" type="pres">
      <dgm:prSet presAssocID="{65657167-C77C-43AF-97B0-751A3C0164C7}" presName="bgRect" presStyleLbl="bgShp" presStyleIdx="0" presStyleCnt="2"/>
      <dgm:spPr/>
    </dgm:pt>
    <dgm:pt modelId="{9FB661B4-C242-4D29-AD3F-152C1FB69097}" type="pres">
      <dgm:prSet presAssocID="{65657167-C77C-43AF-97B0-751A3C0164C7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EE90AD46-B766-43D6-AF80-1E96B798237C}" type="pres">
      <dgm:prSet presAssocID="{65657167-C77C-43AF-97B0-751A3C0164C7}" presName="spaceRect" presStyleCnt="0"/>
      <dgm:spPr/>
    </dgm:pt>
    <dgm:pt modelId="{25E0D1EE-2EA2-463D-959C-AC8D9A54509A}" type="pres">
      <dgm:prSet presAssocID="{65657167-C77C-43AF-97B0-751A3C0164C7}" presName="parTx" presStyleLbl="revTx" presStyleIdx="0" presStyleCnt="2">
        <dgm:presLayoutVars>
          <dgm:chMax val="0"/>
          <dgm:chPref val="0"/>
        </dgm:presLayoutVars>
      </dgm:prSet>
      <dgm:spPr/>
    </dgm:pt>
    <dgm:pt modelId="{AEF91791-1C04-43D7-98F2-90D1111ED999}" type="pres">
      <dgm:prSet presAssocID="{437C43CD-22F2-45AA-A111-5D2835AA9DB5}" presName="sibTrans" presStyleCnt="0"/>
      <dgm:spPr/>
    </dgm:pt>
    <dgm:pt modelId="{C0F7612D-8952-4C59-827C-B08008C071A2}" type="pres">
      <dgm:prSet presAssocID="{56A8F435-1FA0-4F01-8B8B-9BAAC5F3A529}" presName="compNode" presStyleCnt="0"/>
      <dgm:spPr/>
    </dgm:pt>
    <dgm:pt modelId="{61F9FDF9-F100-4539-BEC1-7447CFFB3C9C}" type="pres">
      <dgm:prSet presAssocID="{56A8F435-1FA0-4F01-8B8B-9BAAC5F3A529}" presName="bgRect" presStyleLbl="bgShp" presStyleIdx="1" presStyleCnt="2"/>
      <dgm:spPr/>
    </dgm:pt>
    <dgm:pt modelId="{7735034A-04F1-42BE-841E-AB3E2D59B617}" type="pres">
      <dgm:prSet presAssocID="{56A8F435-1FA0-4F01-8B8B-9BAAC5F3A529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nyon scene"/>
        </a:ext>
      </dgm:extLst>
    </dgm:pt>
    <dgm:pt modelId="{045808D6-CFBC-4010-9E68-FD47CE7484C1}" type="pres">
      <dgm:prSet presAssocID="{56A8F435-1FA0-4F01-8B8B-9BAAC5F3A529}" presName="spaceRect" presStyleCnt="0"/>
      <dgm:spPr/>
    </dgm:pt>
    <dgm:pt modelId="{6506A0A6-1680-4A82-815A-460F0F792306}" type="pres">
      <dgm:prSet presAssocID="{56A8F435-1FA0-4F01-8B8B-9BAAC5F3A529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6FD73331-F27F-4C9E-83A0-B53843388A23}" srcId="{FA8E5921-BF95-4CEB-A43D-2B7634C0F95E}" destId="{56A8F435-1FA0-4F01-8B8B-9BAAC5F3A529}" srcOrd="1" destOrd="0" parTransId="{11EA81CF-2B68-403C-BE42-A21D9DDD3369}" sibTransId="{27D803A5-F52A-4E61-A166-425C7D2EDA23}"/>
    <dgm:cxn modelId="{BFB10263-E520-43E8-9AFC-339B71E47749}" type="presOf" srcId="{65657167-C77C-43AF-97B0-751A3C0164C7}" destId="{25E0D1EE-2EA2-463D-959C-AC8D9A54509A}" srcOrd="0" destOrd="0" presId="urn:microsoft.com/office/officeart/2018/2/layout/IconVerticalSolidList"/>
    <dgm:cxn modelId="{0E8B3B88-71E6-47A5-B95D-C48C32F37ADF}" type="presOf" srcId="{56A8F435-1FA0-4F01-8B8B-9BAAC5F3A529}" destId="{6506A0A6-1680-4A82-815A-460F0F792306}" srcOrd="0" destOrd="0" presId="urn:microsoft.com/office/officeart/2018/2/layout/IconVerticalSolidList"/>
    <dgm:cxn modelId="{4E9AB4D0-1F90-422E-A884-EE19905D412A}" type="presOf" srcId="{FA8E5921-BF95-4CEB-A43D-2B7634C0F95E}" destId="{267438F5-375B-4DC3-B756-0ACDAAA56EB5}" srcOrd="0" destOrd="0" presId="urn:microsoft.com/office/officeart/2018/2/layout/IconVerticalSolidList"/>
    <dgm:cxn modelId="{214B1BED-3A49-42F0-8BC6-047EECA99C64}" srcId="{FA8E5921-BF95-4CEB-A43D-2B7634C0F95E}" destId="{65657167-C77C-43AF-97B0-751A3C0164C7}" srcOrd="0" destOrd="0" parTransId="{8D909A10-A10F-4721-BD92-C922DADD4945}" sibTransId="{437C43CD-22F2-45AA-A111-5D2835AA9DB5}"/>
    <dgm:cxn modelId="{03A24CC3-4B3D-428E-AE1F-41E9A8FF48B8}" type="presParOf" srcId="{267438F5-375B-4DC3-B756-0ACDAAA56EB5}" destId="{31B3224D-1B20-4FEA-84D7-56D8D97C54B4}" srcOrd="0" destOrd="0" presId="urn:microsoft.com/office/officeart/2018/2/layout/IconVerticalSolidList"/>
    <dgm:cxn modelId="{3E2D17F2-6B71-4976-8F45-551F39D6FB5B}" type="presParOf" srcId="{31B3224D-1B20-4FEA-84D7-56D8D97C54B4}" destId="{D00FDBFE-7C5A-4090-92EF-8AE7EC8C3ABD}" srcOrd="0" destOrd="0" presId="urn:microsoft.com/office/officeart/2018/2/layout/IconVerticalSolidList"/>
    <dgm:cxn modelId="{60F32ECC-E416-4062-9704-6B69E0F824B3}" type="presParOf" srcId="{31B3224D-1B20-4FEA-84D7-56D8D97C54B4}" destId="{9FB661B4-C242-4D29-AD3F-152C1FB69097}" srcOrd="1" destOrd="0" presId="urn:microsoft.com/office/officeart/2018/2/layout/IconVerticalSolidList"/>
    <dgm:cxn modelId="{D384D010-CAD3-43EB-840D-6C2A4F8BDFFC}" type="presParOf" srcId="{31B3224D-1B20-4FEA-84D7-56D8D97C54B4}" destId="{EE90AD46-B766-43D6-AF80-1E96B798237C}" srcOrd="2" destOrd="0" presId="urn:microsoft.com/office/officeart/2018/2/layout/IconVerticalSolidList"/>
    <dgm:cxn modelId="{2F255A93-15BB-4CE5-A25E-F5CF040CCF0C}" type="presParOf" srcId="{31B3224D-1B20-4FEA-84D7-56D8D97C54B4}" destId="{25E0D1EE-2EA2-463D-959C-AC8D9A54509A}" srcOrd="3" destOrd="0" presId="urn:microsoft.com/office/officeart/2018/2/layout/IconVerticalSolidList"/>
    <dgm:cxn modelId="{53D6D15F-E224-47EC-B0FF-8885F4420BB8}" type="presParOf" srcId="{267438F5-375B-4DC3-B756-0ACDAAA56EB5}" destId="{AEF91791-1C04-43D7-98F2-90D1111ED999}" srcOrd="1" destOrd="0" presId="urn:microsoft.com/office/officeart/2018/2/layout/IconVerticalSolidList"/>
    <dgm:cxn modelId="{8970E132-EFFC-46D7-9B3C-2CD7E26B82E9}" type="presParOf" srcId="{267438F5-375B-4DC3-B756-0ACDAAA56EB5}" destId="{C0F7612D-8952-4C59-827C-B08008C071A2}" srcOrd="2" destOrd="0" presId="urn:microsoft.com/office/officeart/2018/2/layout/IconVerticalSolidList"/>
    <dgm:cxn modelId="{A31C0950-4A93-4351-904A-BAB7CBA569CB}" type="presParOf" srcId="{C0F7612D-8952-4C59-827C-B08008C071A2}" destId="{61F9FDF9-F100-4539-BEC1-7447CFFB3C9C}" srcOrd="0" destOrd="0" presId="urn:microsoft.com/office/officeart/2018/2/layout/IconVerticalSolidList"/>
    <dgm:cxn modelId="{18E7900A-D8BC-46B1-8F12-91BD92460EEE}" type="presParOf" srcId="{C0F7612D-8952-4C59-827C-B08008C071A2}" destId="{7735034A-04F1-42BE-841E-AB3E2D59B617}" srcOrd="1" destOrd="0" presId="urn:microsoft.com/office/officeart/2018/2/layout/IconVerticalSolidList"/>
    <dgm:cxn modelId="{6466A6DE-4C1A-4B8D-99F0-4374189D8522}" type="presParOf" srcId="{C0F7612D-8952-4C59-827C-B08008C071A2}" destId="{045808D6-CFBC-4010-9E68-FD47CE7484C1}" srcOrd="2" destOrd="0" presId="urn:microsoft.com/office/officeart/2018/2/layout/IconVerticalSolidList"/>
    <dgm:cxn modelId="{388EDBCD-F578-40FC-8CFB-40D657FB36BC}" type="presParOf" srcId="{C0F7612D-8952-4C59-827C-B08008C071A2}" destId="{6506A0A6-1680-4A82-815A-460F0F79230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87D5A1C-B232-45B9-837C-F259739317A4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AE35693-5286-40DF-BE9E-4E2174CACE2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Regularization Techniques (Lasso &amp; Ridge):Help reduce overfitting by penalizing complex models, but in our case, did not significantly outperform standard logistic regression. This suggests that the features may already be relatively well-structured.</a:t>
          </a:r>
        </a:p>
      </dgm:t>
    </dgm:pt>
    <dgm:pt modelId="{5E4E1E99-DE00-403F-92BB-94C23DF95EEF}" type="parTrans" cxnId="{80899CCC-150B-4F1D-96D7-39B9879DE74F}">
      <dgm:prSet/>
      <dgm:spPr/>
      <dgm:t>
        <a:bodyPr/>
        <a:lstStyle/>
        <a:p>
          <a:endParaRPr lang="en-US"/>
        </a:p>
      </dgm:t>
    </dgm:pt>
    <dgm:pt modelId="{A26B284D-7B35-422E-9DEF-0DD01F1F5B97}" type="sibTrans" cxnId="{80899CCC-150B-4F1D-96D7-39B9879DE74F}">
      <dgm:prSet/>
      <dgm:spPr/>
      <dgm:t>
        <a:bodyPr/>
        <a:lstStyle/>
        <a:p>
          <a:endParaRPr lang="en-US"/>
        </a:p>
      </dgm:t>
    </dgm:pt>
    <dgm:pt modelId="{AD2764A0-7887-45F0-9F00-368456A5CB4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Dimensionality Reduction (PCA + Logistic Regression):Achieved perfect recall and stable accuracy even after cross-validation. This shows that PCA effectively handled multicollinearity and preserved the most informative components for classification.</a:t>
          </a:r>
        </a:p>
      </dgm:t>
    </dgm:pt>
    <dgm:pt modelId="{DC895A2F-2DE0-4931-9B78-F79AECA8A7F7}" type="parTrans" cxnId="{B968B0A6-3460-4484-B4B8-1CE84EF035D6}">
      <dgm:prSet/>
      <dgm:spPr/>
      <dgm:t>
        <a:bodyPr/>
        <a:lstStyle/>
        <a:p>
          <a:endParaRPr lang="en-US"/>
        </a:p>
      </dgm:t>
    </dgm:pt>
    <dgm:pt modelId="{6A717AF6-7D7C-432D-85D5-689CCD1AA038}" type="sibTrans" cxnId="{B968B0A6-3460-4484-B4B8-1CE84EF035D6}">
      <dgm:prSet/>
      <dgm:spPr/>
      <dgm:t>
        <a:bodyPr/>
        <a:lstStyle/>
        <a:p>
          <a:endParaRPr lang="en-US"/>
        </a:p>
      </dgm:t>
    </dgm:pt>
    <dgm:pt modelId="{405076DF-0F98-4782-8B6C-7B57ACB3CB1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Conclusion:While regularization had limited impact, PCA-based dimensionality reduction clearly improved model performance and generalizability, especially in high-sensitivity applications like medical diagnosis.</a:t>
          </a:r>
        </a:p>
      </dgm:t>
    </dgm:pt>
    <dgm:pt modelId="{58E9B3D8-EFFF-44A3-925A-B81966D74408}" type="parTrans" cxnId="{651367FB-DA25-421E-95E5-79813A1A3F5B}">
      <dgm:prSet/>
      <dgm:spPr/>
      <dgm:t>
        <a:bodyPr/>
        <a:lstStyle/>
        <a:p>
          <a:endParaRPr lang="en-US"/>
        </a:p>
      </dgm:t>
    </dgm:pt>
    <dgm:pt modelId="{6FA8BE89-3471-421C-9674-F49512F29A60}" type="sibTrans" cxnId="{651367FB-DA25-421E-95E5-79813A1A3F5B}">
      <dgm:prSet/>
      <dgm:spPr/>
      <dgm:t>
        <a:bodyPr/>
        <a:lstStyle/>
        <a:p>
          <a:endParaRPr lang="en-US"/>
        </a:p>
      </dgm:t>
    </dgm:pt>
    <dgm:pt modelId="{BA5E1566-CCD6-4463-B1B5-72B65631A2C1}" type="pres">
      <dgm:prSet presAssocID="{287D5A1C-B232-45B9-837C-F259739317A4}" presName="root" presStyleCnt="0">
        <dgm:presLayoutVars>
          <dgm:dir/>
          <dgm:resizeHandles val="exact"/>
        </dgm:presLayoutVars>
      </dgm:prSet>
      <dgm:spPr/>
    </dgm:pt>
    <dgm:pt modelId="{11C71D33-32C9-4266-9B36-5BE44451AE38}" type="pres">
      <dgm:prSet presAssocID="{DAE35693-5286-40DF-BE9E-4E2174CACE28}" presName="compNode" presStyleCnt="0"/>
      <dgm:spPr/>
    </dgm:pt>
    <dgm:pt modelId="{90AB3C20-8DCA-4D86-837D-A4A78D44F710}" type="pres">
      <dgm:prSet presAssocID="{DAE35693-5286-40DF-BE9E-4E2174CACE2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nyon scene"/>
        </a:ext>
      </dgm:extLst>
    </dgm:pt>
    <dgm:pt modelId="{7D853F80-C57F-4AC9-9764-DF13819C3B1C}" type="pres">
      <dgm:prSet presAssocID="{DAE35693-5286-40DF-BE9E-4E2174CACE28}" presName="spaceRect" presStyleCnt="0"/>
      <dgm:spPr/>
    </dgm:pt>
    <dgm:pt modelId="{DD4529BF-3D8E-4A40-80D8-5639FE1A305C}" type="pres">
      <dgm:prSet presAssocID="{DAE35693-5286-40DF-BE9E-4E2174CACE28}" presName="textRect" presStyleLbl="revTx" presStyleIdx="0" presStyleCnt="3">
        <dgm:presLayoutVars>
          <dgm:chMax val="1"/>
          <dgm:chPref val="1"/>
        </dgm:presLayoutVars>
      </dgm:prSet>
      <dgm:spPr/>
    </dgm:pt>
    <dgm:pt modelId="{501AB7E8-C9F0-4B0B-A157-9ADDA4B9F030}" type="pres">
      <dgm:prSet presAssocID="{A26B284D-7B35-422E-9DEF-0DD01F1F5B97}" presName="sibTrans" presStyleCnt="0"/>
      <dgm:spPr/>
    </dgm:pt>
    <dgm:pt modelId="{66A6B189-84D3-4B18-B4EE-24FD250972AC}" type="pres">
      <dgm:prSet presAssocID="{AD2764A0-7887-45F0-9F00-368456A5CB4F}" presName="compNode" presStyleCnt="0"/>
      <dgm:spPr/>
    </dgm:pt>
    <dgm:pt modelId="{14578919-D9D3-4826-99CC-FD5177C7D64F}" type="pres">
      <dgm:prSet presAssocID="{AD2764A0-7887-45F0-9F00-368456A5CB4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101837E2-A48A-46FF-BD76-F46374740022}" type="pres">
      <dgm:prSet presAssocID="{AD2764A0-7887-45F0-9F00-368456A5CB4F}" presName="spaceRect" presStyleCnt="0"/>
      <dgm:spPr/>
    </dgm:pt>
    <dgm:pt modelId="{5958F4E2-3882-45A2-8716-F05C9DF81F84}" type="pres">
      <dgm:prSet presAssocID="{AD2764A0-7887-45F0-9F00-368456A5CB4F}" presName="textRect" presStyleLbl="revTx" presStyleIdx="1" presStyleCnt="3">
        <dgm:presLayoutVars>
          <dgm:chMax val="1"/>
          <dgm:chPref val="1"/>
        </dgm:presLayoutVars>
      </dgm:prSet>
      <dgm:spPr/>
    </dgm:pt>
    <dgm:pt modelId="{E8A731AA-D055-4462-9685-C194345DB63D}" type="pres">
      <dgm:prSet presAssocID="{6A717AF6-7D7C-432D-85D5-689CCD1AA038}" presName="sibTrans" presStyleCnt="0"/>
      <dgm:spPr/>
    </dgm:pt>
    <dgm:pt modelId="{2D0C3C0C-BBE2-49FF-BF9D-F429F5193011}" type="pres">
      <dgm:prSet presAssocID="{405076DF-0F98-4782-8B6C-7B57ACB3CB11}" presName="compNode" presStyleCnt="0"/>
      <dgm:spPr/>
    </dgm:pt>
    <dgm:pt modelId="{8BB50425-9EAD-4AB2-9B06-58883D1660BF}" type="pres">
      <dgm:prSet presAssocID="{405076DF-0F98-4782-8B6C-7B57ACB3CB1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8284F3F0-82EE-4592-910B-DE8CF3AA6E84}" type="pres">
      <dgm:prSet presAssocID="{405076DF-0F98-4782-8B6C-7B57ACB3CB11}" presName="spaceRect" presStyleCnt="0"/>
      <dgm:spPr/>
    </dgm:pt>
    <dgm:pt modelId="{C9499E87-EF8B-425F-9EFB-6912B7EE4C48}" type="pres">
      <dgm:prSet presAssocID="{405076DF-0F98-4782-8B6C-7B57ACB3CB11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0477A41A-141A-4ADA-B226-A16D03F3CC28}" type="presOf" srcId="{AD2764A0-7887-45F0-9F00-368456A5CB4F}" destId="{5958F4E2-3882-45A2-8716-F05C9DF81F84}" srcOrd="0" destOrd="0" presId="urn:microsoft.com/office/officeart/2018/2/layout/IconLabelList"/>
    <dgm:cxn modelId="{C68CD780-FA46-40D3-8CF8-BC1806588895}" type="presOf" srcId="{405076DF-0F98-4782-8B6C-7B57ACB3CB11}" destId="{C9499E87-EF8B-425F-9EFB-6912B7EE4C48}" srcOrd="0" destOrd="0" presId="urn:microsoft.com/office/officeart/2018/2/layout/IconLabelList"/>
    <dgm:cxn modelId="{0A3B61A2-4A1C-470D-B363-93FE42D42777}" type="presOf" srcId="{287D5A1C-B232-45B9-837C-F259739317A4}" destId="{BA5E1566-CCD6-4463-B1B5-72B65631A2C1}" srcOrd="0" destOrd="0" presId="urn:microsoft.com/office/officeart/2018/2/layout/IconLabelList"/>
    <dgm:cxn modelId="{B968B0A6-3460-4484-B4B8-1CE84EF035D6}" srcId="{287D5A1C-B232-45B9-837C-F259739317A4}" destId="{AD2764A0-7887-45F0-9F00-368456A5CB4F}" srcOrd="1" destOrd="0" parTransId="{DC895A2F-2DE0-4931-9B78-F79AECA8A7F7}" sibTransId="{6A717AF6-7D7C-432D-85D5-689CCD1AA038}"/>
    <dgm:cxn modelId="{B97AC9C5-ACC5-4FBE-8A74-BB9E7D4136E7}" type="presOf" srcId="{DAE35693-5286-40DF-BE9E-4E2174CACE28}" destId="{DD4529BF-3D8E-4A40-80D8-5639FE1A305C}" srcOrd="0" destOrd="0" presId="urn:microsoft.com/office/officeart/2018/2/layout/IconLabelList"/>
    <dgm:cxn modelId="{80899CCC-150B-4F1D-96D7-39B9879DE74F}" srcId="{287D5A1C-B232-45B9-837C-F259739317A4}" destId="{DAE35693-5286-40DF-BE9E-4E2174CACE28}" srcOrd="0" destOrd="0" parTransId="{5E4E1E99-DE00-403F-92BB-94C23DF95EEF}" sibTransId="{A26B284D-7B35-422E-9DEF-0DD01F1F5B97}"/>
    <dgm:cxn modelId="{651367FB-DA25-421E-95E5-79813A1A3F5B}" srcId="{287D5A1C-B232-45B9-837C-F259739317A4}" destId="{405076DF-0F98-4782-8B6C-7B57ACB3CB11}" srcOrd="2" destOrd="0" parTransId="{58E9B3D8-EFFF-44A3-925A-B81966D74408}" sibTransId="{6FA8BE89-3471-421C-9674-F49512F29A60}"/>
    <dgm:cxn modelId="{DAA00C21-55E1-4A49-8C0E-BF77DC7E98B0}" type="presParOf" srcId="{BA5E1566-CCD6-4463-B1B5-72B65631A2C1}" destId="{11C71D33-32C9-4266-9B36-5BE44451AE38}" srcOrd="0" destOrd="0" presId="urn:microsoft.com/office/officeart/2018/2/layout/IconLabelList"/>
    <dgm:cxn modelId="{59134651-DDAD-41EF-B30D-9CD24C9BB0A2}" type="presParOf" srcId="{11C71D33-32C9-4266-9B36-5BE44451AE38}" destId="{90AB3C20-8DCA-4D86-837D-A4A78D44F710}" srcOrd="0" destOrd="0" presId="urn:microsoft.com/office/officeart/2018/2/layout/IconLabelList"/>
    <dgm:cxn modelId="{BF799D96-1706-4ACE-AD73-ECD34FB192CA}" type="presParOf" srcId="{11C71D33-32C9-4266-9B36-5BE44451AE38}" destId="{7D853F80-C57F-4AC9-9764-DF13819C3B1C}" srcOrd="1" destOrd="0" presId="urn:microsoft.com/office/officeart/2018/2/layout/IconLabelList"/>
    <dgm:cxn modelId="{7FE9E8C3-C9D1-43A7-985F-94F2773BB4EF}" type="presParOf" srcId="{11C71D33-32C9-4266-9B36-5BE44451AE38}" destId="{DD4529BF-3D8E-4A40-80D8-5639FE1A305C}" srcOrd="2" destOrd="0" presId="urn:microsoft.com/office/officeart/2018/2/layout/IconLabelList"/>
    <dgm:cxn modelId="{BEF39125-70C9-470B-859D-F9F0B234B056}" type="presParOf" srcId="{BA5E1566-CCD6-4463-B1B5-72B65631A2C1}" destId="{501AB7E8-C9F0-4B0B-A157-9ADDA4B9F030}" srcOrd="1" destOrd="0" presId="urn:microsoft.com/office/officeart/2018/2/layout/IconLabelList"/>
    <dgm:cxn modelId="{E77BBEFD-2AC0-47A9-A937-0E63DF11B1F8}" type="presParOf" srcId="{BA5E1566-CCD6-4463-B1B5-72B65631A2C1}" destId="{66A6B189-84D3-4B18-B4EE-24FD250972AC}" srcOrd="2" destOrd="0" presId="urn:microsoft.com/office/officeart/2018/2/layout/IconLabelList"/>
    <dgm:cxn modelId="{4F4F10BA-D72F-4C02-9F26-F585079CF43A}" type="presParOf" srcId="{66A6B189-84D3-4B18-B4EE-24FD250972AC}" destId="{14578919-D9D3-4826-99CC-FD5177C7D64F}" srcOrd="0" destOrd="0" presId="urn:microsoft.com/office/officeart/2018/2/layout/IconLabelList"/>
    <dgm:cxn modelId="{5A75269C-0E88-4BC9-B027-A44B96F3CCD8}" type="presParOf" srcId="{66A6B189-84D3-4B18-B4EE-24FD250972AC}" destId="{101837E2-A48A-46FF-BD76-F46374740022}" srcOrd="1" destOrd="0" presId="urn:microsoft.com/office/officeart/2018/2/layout/IconLabelList"/>
    <dgm:cxn modelId="{295648C5-2B0F-48B2-8007-F69D5C4DF156}" type="presParOf" srcId="{66A6B189-84D3-4B18-B4EE-24FD250972AC}" destId="{5958F4E2-3882-45A2-8716-F05C9DF81F84}" srcOrd="2" destOrd="0" presId="urn:microsoft.com/office/officeart/2018/2/layout/IconLabelList"/>
    <dgm:cxn modelId="{4CAE29B4-B2F0-47E5-A449-BE90E9F2F285}" type="presParOf" srcId="{BA5E1566-CCD6-4463-B1B5-72B65631A2C1}" destId="{E8A731AA-D055-4462-9685-C194345DB63D}" srcOrd="3" destOrd="0" presId="urn:microsoft.com/office/officeart/2018/2/layout/IconLabelList"/>
    <dgm:cxn modelId="{F0CB6323-E6F0-4B9D-928A-713DC3A1D5DD}" type="presParOf" srcId="{BA5E1566-CCD6-4463-B1B5-72B65631A2C1}" destId="{2D0C3C0C-BBE2-49FF-BF9D-F429F5193011}" srcOrd="4" destOrd="0" presId="urn:microsoft.com/office/officeart/2018/2/layout/IconLabelList"/>
    <dgm:cxn modelId="{9D46260C-EFEA-4F09-8D1F-3D8F9C17A5DF}" type="presParOf" srcId="{2D0C3C0C-BBE2-49FF-BF9D-F429F5193011}" destId="{8BB50425-9EAD-4AB2-9B06-58883D1660BF}" srcOrd="0" destOrd="0" presId="urn:microsoft.com/office/officeart/2018/2/layout/IconLabelList"/>
    <dgm:cxn modelId="{C222893B-07A5-4C5C-B7D2-1E8015463EB5}" type="presParOf" srcId="{2D0C3C0C-BBE2-49FF-BF9D-F429F5193011}" destId="{8284F3F0-82EE-4592-910B-DE8CF3AA6E84}" srcOrd="1" destOrd="0" presId="urn:microsoft.com/office/officeart/2018/2/layout/IconLabelList"/>
    <dgm:cxn modelId="{365B4203-55C0-422F-84FC-699E9719188B}" type="presParOf" srcId="{2D0C3C0C-BBE2-49FF-BF9D-F429F5193011}" destId="{C9499E87-EF8B-425F-9EFB-6912B7EE4C4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1A87C50-3336-4C45-AEEF-B61CBFD00717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5DC992E9-813D-40D0-A21E-20A8311235BE}">
      <dgm:prSet/>
      <dgm:spPr/>
      <dgm:t>
        <a:bodyPr/>
        <a:lstStyle/>
        <a:p>
          <a:pPr>
            <a:defRPr cap="all"/>
          </a:pPr>
          <a:r>
            <a:rPr lang="en-US" b="0" i="0" baseline="0"/>
            <a:t>We appreciate your time and attention.</a:t>
          </a:r>
          <a:endParaRPr lang="en-US"/>
        </a:p>
      </dgm:t>
    </dgm:pt>
    <dgm:pt modelId="{134A897E-ABBA-4533-BEAC-977E57898F1A}" type="parTrans" cxnId="{7B7F9A14-CC40-4268-A38F-8C3FC298E263}">
      <dgm:prSet/>
      <dgm:spPr/>
      <dgm:t>
        <a:bodyPr/>
        <a:lstStyle/>
        <a:p>
          <a:endParaRPr lang="en-US"/>
        </a:p>
      </dgm:t>
    </dgm:pt>
    <dgm:pt modelId="{B4F281EB-A664-4555-A874-9C0C81EC0FA7}" type="sibTrans" cxnId="{7B7F9A14-CC40-4268-A38F-8C3FC298E263}">
      <dgm:prSet/>
      <dgm:spPr/>
      <dgm:t>
        <a:bodyPr/>
        <a:lstStyle/>
        <a:p>
          <a:endParaRPr lang="en-US"/>
        </a:p>
      </dgm:t>
    </dgm:pt>
    <dgm:pt modelId="{AB36B90B-9A38-4F65-AB1C-4296AD5BDDE0}">
      <dgm:prSet/>
      <dgm:spPr/>
      <dgm:t>
        <a:bodyPr/>
        <a:lstStyle/>
        <a:p>
          <a:pPr>
            <a:defRPr cap="all"/>
          </a:pPr>
          <a:r>
            <a:rPr lang="en-US" b="1" i="0" baseline="0"/>
            <a:t>Questions or feedback are welcome!</a:t>
          </a:r>
          <a:endParaRPr lang="en-US"/>
        </a:p>
      </dgm:t>
    </dgm:pt>
    <dgm:pt modelId="{482D9751-06CE-4129-ACD7-ABB591F23D34}" type="parTrans" cxnId="{3ACD5829-2102-4568-B21D-BCD8F82D232D}">
      <dgm:prSet/>
      <dgm:spPr/>
      <dgm:t>
        <a:bodyPr/>
        <a:lstStyle/>
        <a:p>
          <a:endParaRPr lang="en-US"/>
        </a:p>
      </dgm:t>
    </dgm:pt>
    <dgm:pt modelId="{E8FD5804-C453-46B6-AC1B-7E0428D923B1}" type="sibTrans" cxnId="{3ACD5829-2102-4568-B21D-BCD8F82D232D}">
      <dgm:prSet/>
      <dgm:spPr/>
      <dgm:t>
        <a:bodyPr/>
        <a:lstStyle/>
        <a:p>
          <a:endParaRPr lang="en-US"/>
        </a:p>
      </dgm:t>
    </dgm:pt>
    <dgm:pt modelId="{98344932-DDA3-474C-A841-844A7559D273}" type="pres">
      <dgm:prSet presAssocID="{61A87C50-3336-4C45-AEEF-B61CBFD00717}" presName="root" presStyleCnt="0">
        <dgm:presLayoutVars>
          <dgm:dir/>
          <dgm:resizeHandles val="exact"/>
        </dgm:presLayoutVars>
      </dgm:prSet>
      <dgm:spPr/>
    </dgm:pt>
    <dgm:pt modelId="{CF4FE78D-1686-4F21-B779-24C2011F2D64}" type="pres">
      <dgm:prSet presAssocID="{5DC992E9-813D-40D0-A21E-20A8311235BE}" presName="compNode" presStyleCnt="0"/>
      <dgm:spPr/>
    </dgm:pt>
    <dgm:pt modelId="{311E5A15-5CA1-4A27-969F-B150E7708CC8}" type="pres">
      <dgm:prSet presAssocID="{5DC992E9-813D-40D0-A21E-20A8311235BE}" presName="iconBgRect" presStyleLbl="bgShp" presStyleIdx="0" presStyleCnt="2"/>
      <dgm:spPr/>
    </dgm:pt>
    <dgm:pt modelId="{4423189D-B076-427E-903D-9CD4C933E9EB}" type="pres">
      <dgm:prSet presAssocID="{5DC992E9-813D-40D0-A21E-20A8311235BE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9BC3474D-AD0A-4642-9917-9015713AC6EC}" type="pres">
      <dgm:prSet presAssocID="{5DC992E9-813D-40D0-A21E-20A8311235BE}" presName="spaceRect" presStyleCnt="0"/>
      <dgm:spPr/>
    </dgm:pt>
    <dgm:pt modelId="{39065BB0-5760-4986-8E2A-2ECFFCFD3799}" type="pres">
      <dgm:prSet presAssocID="{5DC992E9-813D-40D0-A21E-20A8311235BE}" presName="textRect" presStyleLbl="revTx" presStyleIdx="0" presStyleCnt="2">
        <dgm:presLayoutVars>
          <dgm:chMax val="1"/>
          <dgm:chPref val="1"/>
        </dgm:presLayoutVars>
      </dgm:prSet>
      <dgm:spPr/>
    </dgm:pt>
    <dgm:pt modelId="{6E1883D6-FE09-4621-969F-2305E103E411}" type="pres">
      <dgm:prSet presAssocID="{B4F281EB-A664-4555-A874-9C0C81EC0FA7}" presName="sibTrans" presStyleCnt="0"/>
      <dgm:spPr/>
    </dgm:pt>
    <dgm:pt modelId="{4E013390-C809-481B-A9BF-FEE00597E45B}" type="pres">
      <dgm:prSet presAssocID="{AB36B90B-9A38-4F65-AB1C-4296AD5BDDE0}" presName="compNode" presStyleCnt="0"/>
      <dgm:spPr/>
    </dgm:pt>
    <dgm:pt modelId="{47DB77C4-BA5B-4C50-88CE-4FF9CD61313F}" type="pres">
      <dgm:prSet presAssocID="{AB36B90B-9A38-4F65-AB1C-4296AD5BDDE0}" presName="iconBgRect" presStyleLbl="bgShp" presStyleIdx="1" presStyleCnt="2"/>
      <dgm:spPr/>
    </dgm:pt>
    <dgm:pt modelId="{A7D2C765-B582-4A53-898E-1ACE51AFDFFB}" type="pres">
      <dgm:prSet presAssocID="{AB36B90B-9A38-4F65-AB1C-4296AD5BDDE0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s"/>
        </a:ext>
      </dgm:extLst>
    </dgm:pt>
    <dgm:pt modelId="{E6097DCE-D4EB-433C-91B8-C999A643441F}" type="pres">
      <dgm:prSet presAssocID="{AB36B90B-9A38-4F65-AB1C-4296AD5BDDE0}" presName="spaceRect" presStyleCnt="0"/>
      <dgm:spPr/>
    </dgm:pt>
    <dgm:pt modelId="{F195D34D-734B-4E68-A381-14304CF7CF3D}" type="pres">
      <dgm:prSet presAssocID="{AB36B90B-9A38-4F65-AB1C-4296AD5BDDE0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7B7F9A14-CC40-4268-A38F-8C3FC298E263}" srcId="{61A87C50-3336-4C45-AEEF-B61CBFD00717}" destId="{5DC992E9-813D-40D0-A21E-20A8311235BE}" srcOrd="0" destOrd="0" parTransId="{134A897E-ABBA-4533-BEAC-977E57898F1A}" sibTransId="{B4F281EB-A664-4555-A874-9C0C81EC0FA7}"/>
    <dgm:cxn modelId="{3ACD5829-2102-4568-B21D-BCD8F82D232D}" srcId="{61A87C50-3336-4C45-AEEF-B61CBFD00717}" destId="{AB36B90B-9A38-4F65-AB1C-4296AD5BDDE0}" srcOrd="1" destOrd="0" parTransId="{482D9751-06CE-4129-ACD7-ABB591F23D34}" sibTransId="{E8FD5804-C453-46B6-AC1B-7E0428D923B1}"/>
    <dgm:cxn modelId="{83B36933-46F2-4B64-A564-A1F960671F2A}" type="presOf" srcId="{AB36B90B-9A38-4F65-AB1C-4296AD5BDDE0}" destId="{F195D34D-734B-4E68-A381-14304CF7CF3D}" srcOrd="0" destOrd="0" presId="urn:microsoft.com/office/officeart/2018/5/layout/IconCircleLabelList"/>
    <dgm:cxn modelId="{361563A9-0271-4811-AF6C-085764779EFF}" type="presOf" srcId="{5DC992E9-813D-40D0-A21E-20A8311235BE}" destId="{39065BB0-5760-4986-8E2A-2ECFFCFD3799}" srcOrd="0" destOrd="0" presId="urn:microsoft.com/office/officeart/2018/5/layout/IconCircleLabelList"/>
    <dgm:cxn modelId="{CE2ED0CC-6D1E-49E2-93C3-38381B7F1E5C}" type="presOf" srcId="{61A87C50-3336-4C45-AEEF-B61CBFD00717}" destId="{98344932-DDA3-474C-A841-844A7559D273}" srcOrd="0" destOrd="0" presId="urn:microsoft.com/office/officeart/2018/5/layout/IconCircleLabelList"/>
    <dgm:cxn modelId="{43540511-D744-40F8-A6B9-5C8931170C3D}" type="presParOf" srcId="{98344932-DDA3-474C-A841-844A7559D273}" destId="{CF4FE78D-1686-4F21-B779-24C2011F2D64}" srcOrd="0" destOrd="0" presId="urn:microsoft.com/office/officeart/2018/5/layout/IconCircleLabelList"/>
    <dgm:cxn modelId="{3F6D5E63-68FC-4B98-A26D-DF6EC419016C}" type="presParOf" srcId="{CF4FE78D-1686-4F21-B779-24C2011F2D64}" destId="{311E5A15-5CA1-4A27-969F-B150E7708CC8}" srcOrd="0" destOrd="0" presId="urn:microsoft.com/office/officeart/2018/5/layout/IconCircleLabelList"/>
    <dgm:cxn modelId="{DFA020D3-32E8-4CA0-BE4E-3278EE0FF45E}" type="presParOf" srcId="{CF4FE78D-1686-4F21-B779-24C2011F2D64}" destId="{4423189D-B076-427E-903D-9CD4C933E9EB}" srcOrd="1" destOrd="0" presId="urn:microsoft.com/office/officeart/2018/5/layout/IconCircleLabelList"/>
    <dgm:cxn modelId="{ADB0B9EF-420F-46BE-91A8-0601B401A40A}" type="presParOf" srcId="{CF4FE78D-1686-4F21-B779-24C2011F2D64}" destId="{9BC3474D-AD0A-4642-9917-9015713AC6EC}" srcOrd="2" destOrd="0" presId="urn:microsoft.com/office/officeart/2018/5/layout/IconCircleLabelList"/>
    <dgm:cxn modelId="{0EEB001F-5812-444E-BB68-AAF2E214D049}" type="presParOf" srcId="{CF4FE78D-1686-4F21-B779-24C2011F2D64}" destId="{39065BB0-5760-4986-8E2A-2ECFFCFD3799}" srcOrd="3" destOrd="0" presId="urn:microsoft.com/office/officeart/2018/5/layout/IconCircleLabelList"/>
    <dgm:cxn modelId="{F7C5B8B6-DADB-4D3A-9C14-B3AEC78B4DF6}" type="presParOf" srcId="{98344932-DDA3-474C-A841-844A7559D273}" destId="{6E1883D6-FE09-4621-969F-2305E103E411}" srcOrd="1" destOrd="0" presId="urn:microsoft.com/office/officeart/2018/5/layout/IconCircleLabelList"/>
    <dgm:cxn modelId="{9FCDD552-285D-4D2B-9FE4-62F3F64A02F2}" type="presParOf" srcId="{98344932-DDA3-474C-A841-844A7559D273}" destId="{4E013390-C809-481B-A9BF-FEE00597E45B}" srcOrd="2" destOrd="0" presId="urn:microsoft.com/office/officeart/2018/5/layout/IconCircleLabelList"/>
    <dgm:cxn modelId="{3545F504-B423-4B7C-8CCE-93A4C8460A29}" type="presParOf" srcId="{4E013390-C809-481B-A9BF-FEE00597E45B}" destId="{47DB77C4-BA5B-4C50-88CE-4FF9CD61313F}" srcOrd="0" destOrd="0" presId="urn:microsoft.com/office/officeart/2018/5/layout/IconCircleLabelList"/>
    <dgm:cxn modelId="{E53EB18A-C065-4E18-8796-EC4AA9340D3A}" type="presParOf" srcId="{4E013390-C809-481B-A9BF-FEE00597E45B}" destId="{A7D2C765-B582-4A53-898E-1ACE51AFDFFB}" srcOrd="1" destOrd="0" presId="urn:microsoft.com/office/officeart/2018/5/layout/IconCircleLabelList"/>
    <dgm:cxn modelId="{14F60A4F-F092-4048-AC72-F9876F6B76F9}" type="presParOf" srcId="{4E013390-C809-481B-A9BF-FEE00597E45B}" destId="{E6097DCE-D4EB-433C-91B8-C999A643441F}" srcOrd="2" destOrd="0" presId="urn:microsoft.com/office/officeart/2018/5/layout/IconCircleLabelList"/>
    <dgm:cxn modelId="{53A3FE93-9070-4540-947F-ED5F5BFF8B5E}" type="presParOf" srcId="{4E013390-C809-481B-A9BF-FEE00597E45B}" destId="{F195D34D-734B-4E68-A381-14304CF7CF3D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BCAFA1-1080-4B75-9829-1CABAE37E8C2}">
      <dsp:nvSpPr>
        <dsp:cNvPr id="0" name=""/>
        <dsp:cNvSpPr/>
      </dsp:nvSpPr>
      <dsp:spPr>
        <a:xfrm>
          <a:off x="0" y="4250"/>
          <a:ext cx="5122926" cy="90536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26C227-3E08-4062-B994-F6D81A0775D2}">
      <dsp:nvSpPr>
        <dsp:cNvPr id="0" name=""/>
        <dsp:cNvSpPr/>
      </dsp:nvSpPr>
      <dsp:spPr>
        <a:xfrm>
          <a:off x="273872" y="207957"/>
          <a:ext cx="497949" cy="4979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BEEFFE-515D-4D16-8301-DCDBDAF5D140}">
      <dsp:nvSpPr>
        <dsp:cNvPr id="0" name=""/>
        <dsp:cNvSpPr/>
      </dsp:nvSpPr>
      <dsp:spPr>
        <a:xfrm>
          <a:off x="1045694" y="4250"/>
          <a:ext cx="4077231" cy="905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818" tIns="95818" rIns="95818" bIns="9581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Source: UCI ML Repository</a:t>
          </a:r>
        </a:p>
      </dsp:txBody>
      <dsp:txXfrm>
        <a:off x="1045694" y="4250"/>
        <a:ext cx="4077231" cy="905363"/>
      </dsp:txXfrm>
    </dsp:sp>
    <dsp:sp modelId="{9471E071-84E6-433A-AF13-D83B62BF087F}">
      <dsp:nvSpPr>
        <dsp:cNvPr id="0" name=""/>
        <dsp:cNvSpPr/>
      </dsp:nvSpPr>
      <dsp:spPr>
        <a:xfrm>
          <a:off x="0" y="1135954"/>
          <a:ext cx="5122926" cy="90536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F81328-F450-499A-ACDD-22E394E14803}">
      <dsp:nvSpPr>
        <dsp:cNvPr id="0" name=""/>
        <dsp:cNvSpPr/>
      </dsp:nvSpPr>
      <dsp:spPr>
        <a:xfrm>
          <a:off x="273872" y="1339661"/>
          <a:ext cx="497949" cy="4979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46A82D-5CE5-458D-B5AE-B0DCEB5EE059}">
      <dsp:nvSpPr>
        <dsp:cNvPr id="0" name=""/>
        <dsp:cNvSpPr/>
      </dsp:nvSpPr>
      <dsp:spPr>
        <a:xfrm>
          <a:off x="1045694" y="1135954"/>
          <a:ext cx="4077231" cy="905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818" tIns="95818" rIns="95818" bIns="9581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197 instances, 22 features</a:t>
          </a:r>
        </a:p>
      </dsp:txBody>
      <dsp:txXfrm>
        <a:off x="1045694" y="1135954"/>
        <a:ext cx="4077231" cy="905363"/>
      </dsp:txXfrm>
    </dsp:sp>
    <dsp:sp modelId="{D1C328CC-52D5-4BA7-870B-F42370D543F1}">
      <dsp:nvSpPr>
        <dsp:cNvPr id="0" name=""/>
        <dsp:cNvSpPr/>
      </dsp:nvSpPr>
      <dsp:spPr>
        <a:xfrm>
          <a:off x="0" y="2267658"/>
          <a:ext cx="5122926" cy="90536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036BB9-6F2A-4DE3-9E58-995830B1773F}">
      <dsp:nvSpPr>
        <dsp:cNvPr id="0" name=""/>
        <dsp:cNvSpPr/>
      </dsp:nvSpPr>
      <dsp:spPr>
        <a:xfrm>
          <a:off x="273872" y="2471365"/>
          <a:ext cx="497949" cy="4979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66DA1A-114A-41DA-9773-486E6E7ADBC0}">
      <dsp:nvSpPr>
        <dsp:cNvPr id="0" name=""/>
        <dsp:cNvSpPr/>
      </dsp:nvSpPr>
      <dsp:spPr>
        <a:xfrm>
          <a:off x="1045694" y="2267658"/>
          <a:ext cx="4077231" cy="905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818" tIns="95818" rIns="95818" bIns="9581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Voice recordings from 31 subjects (23 with Parkinson’s)</a:t>
          </a:r>
        </a:p>
      </dsp:txBody>
      <dsp:txXfrm>
        <a:off x="1045694" y="2267658"/>
        <a:ext cx="4077231" cy="905363"/>
      </dsp:txXfrm>
    </dsp:sp>
    <dsp:sp modelId="{8E03B18A-E01E-40AC-B809-CAF3B5FB49D2}">
      <dsp:nvSpPr>
        <dsp:cNvPr id="0" name=""/>
        <dsp:cNvSpPr/>
      </dsp:nvSpPr>
      <dsp:spPr>
        <a:xfrm>
          <a:off x="0" y="3399362"/>
          <a:ext cx="5122926" cy="90536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1A8E54-E7FA-40FF-8ABC-9AB7D6DF5676}">
      <dsp:nvSpPr>
        <dsp:cNvPr id="0" name=""/>
        <dsp:cNvSpPr/>
      </dsp:nvSpPr>
      <dsp:spPr>
        <a:xfrm>
          <a:off x="273872" y="3603069"/>
          <a:ext cx="497949" cy="49794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1920A8-4973-4D65-96F8-B3445F94869B}">
      <dsp:nvSpPr>
        <dsp:cNvPr id="0" name=""/>
        <dsp:cNvSpPr/>
      </dsp:nvSpPr>
      <dsp:spPr>
        <a:xfrm>
          <a:off x="1045694" y="3399362"/>
          <a:ext cx="4077231" cy="905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818" tIns="95818" rIns="95818" bIns="9581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Features include frequency, amplitude, noise, nonlinear dynamics</a:t>
          </a:r>
        </a:p>
      </dsp:txBody>
      <dsp:txXfrm>
        <a:off x="1045694" y="3399362"/>
        <a:ext cx="4077231" cy="905363"/>
      </dsp:txXfrm>
    </dsp:sp>
    <dsp:sp modelId="{9E8C8A4D-C304-407A-B05A-A771F5D8B721}">
      <dsp:nvSpPr>
        <dsp:cNvPr id="0" name=""/>
        <dsp:cNvSpPr/>
      </dsp:nvSpPr>
      <dsp:spPr>
        <a:xfrm>
          <a:off x="0" y="4531066"/>
          <a:ext cx="5122926" cy="90536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89EEA5-CF5D-4E08-8F70-392426DAF699}">
      <dsp:nvSpPr>
        <dsp:cNvPr id="0" name=""/>
        <dsp:cNvSpPr/>
      </dsp:nvSpPr>
      <dsp:spPr>
        <a:xfrm>
          <a:off x="273872" y="4734773"/>
          <a:ext cx="497949" cy="49794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40AC40-AFC1-46AD-8D17-10FCC10B71D7}">
      <dsp:nvSpPr>
        <dsp:cNvPr id="0" name=""/>
        <dsp:cNvSpPr/>
      </dsp:nvSpPr>
      <dsp:spPr>
        <a:xfrm>
          <a:off x="1045694" y="4531066"/>
          <a:ext cx="4077231" cy="905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818" tIns="95818" rIns="95818" bIns="9581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Target: status (1 = Parkinson’s, 0 = Healthy)</a:t>
          </a:r>
        </a:p>
      </dsp:txBody>
      <dsp:txXfrm>
        <a:off x="1045694" y="4531066"/>
        <a:ext cx="4077231" cy="90536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7FB904-1A66-472D-B1BD-9590AA4D9837}">
      <dsp:nvSpPr>
        <dsp:cNvPr id="0" name=""/>
        <dsp:cNvSpPr/>
      </dsp:nvSpPr>
      <dsp:spPr>
        <a:xfrm>
          <a:off x="0" y="35451"/>
          <a:ext cx="4773168" cy="104480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How useful are the given features in predicting Parkinson’s disease (Using logistic regression and analyzing the p coefficients)</a:t>
          </a:r>
        </a:p>
      </dsp:txBody>
      <dsp:txXfrm>
        <a:off x="51003" y="86454"/>
        <a:ext cx="4671162" cy="942803"/>
      </dsp:txXfrm>
    </dsp:sp>
    <dsp:sp modelId="{F85F14D6-E054-4578-A586-2C7BAB7C9B25}">
      <dsp:nvSpPr>
        <dsp:cNvPr id="0" name=""/>
        <dsp:cNvSpPr/>
      </dsp:nvSpPr>
      <dsp:spPr>
        <a:xfrm>
          <a:off x="0" y="1134981"/>
          <a:ext cx="4773168" cy="1044809"/>
        </a:xfrm>
        <a:prstGeom prst="roundRect">
          <a:avLst/>
        </a:prstGeom>
        <a:solidFill>
          <a:schemeClr val="accent5">
            <a:hueOff val="-2483469"/>
            <a:satOff val="9953"/>
            <a:lumOff val="215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Parametric vs non-parametric models, which perform better?</a:t>
          </a:r>
        </a:p>
      </dsp:txBody>
      <dsp:txXfrm>
        <a:off x="51003" y="1185984"/>
        <a:ext cx="4671162" cy="942803"/>
      </dsp:txXfrm>
    </dsp:sp>
    <dsp:sp modelId="{2E34B152-25B3-4C88-994C-0C1A88A08D96}">
      <dsp:nvSpPr>
        <dsp:cNvPr id="0" name=""/>
        <dsp:cNvSpPr/>
      </dsp:nvSpPr>
      <dsp:spPr>
        <a:xfrm>
          <a:off x="0" y="2234511"/>
          <a:ext cx="4773168" cy="1044809"/>
        </a:xfrm>
        <a:prstGeom prst="round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Can regularization and dimension reduction improve logistic regression?</a:t>
          </a:r>
        </a:p>
      </dsp:txBody>
      <dsp:txXfrm>
        <a:off x="51003" y="2285514"/>
        <a:ext cx="4671162" cy="942803"/>
      </dsp:txXfrm>
    </dsp:sp>
    <dsp:sp modelId="{EFFE7E51-6FC4-4EF9-813B-964A3152E9E5}">
      <dsp:nvSpPr>
        <dsp:cNvPr id="0" name=""/>
        <dsp:cNvSpPr/>
      </dsp:nvSpPr>
      <dsp:spPr>
        <a:xfrm>
          <a:off x="0" y="3334041"/>
          <a:ext cx="4773168" cy="1044809"/>
        </a:xfrm>
        <a:prstGeom prst="roundRect">
          <a:avLst/>
        </a:prstGeom>
        <a:solidFill>
          <a:schemeClr val="accent5">
            <a:hueOff val="-7450407"/>
            <a:satOff val="29858"/>
            <a:lumOff val="647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What is the trade-off between model interpretability and predictive performance in diagnosing Parkinson’s disease?</a:t>
          </a:r>
        </a:p>
      </dsp:txBody>
      <dsp:txXfrm>
        <a:off x="51003" y="3385044"/>
        <a:ext cx="4671162" cy="942803"/>
      </dsp:txXfrm>
    </dsp:sp>
    <dsp:sp modelId="{DB0BC345-5C33-43ED-86A0-ECE98FD090D2}">
      <dsp:nvSpPr>
        <dsp:cNvPr id="0" name=""/>
        <dsp:cNvSpPr/>
      </dsp:nvSpPr>
      <dsp:spPr>
        <a:xfrm>
          <a:off x="0" y="4433571"/>
          <a:ext cx="4773168" cy="1044809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How does model performance vary with different cross-validation strategies (e.g., k-fold vs leave-one-out)?</a:t>
          </a:r>
        </a:p>
      </dsp:txBody>
      <dsp:txXfrm>
        <a:off x="51003" y="4484574"/>
        <a:ext cx="4671162" cy="94280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0FDBFE-7C5A-4090-92EF-8AE7EC8C3ABD}">
      <dsp:nvSpPr>
        <dsp:cNvPr id="0" name=""/>
        <dsp:cNvSpPr/>
      </dsp:nvSpPr>
      <dsp:spPr>
        <a:xfrm>
          <a:off x="0" y="708097"/>
          <a:ext cx="7886700" cy="1307257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B661B4-C242-4D29-AD3F-152C1FB69097}">
      <dsp:nvSpPr>
        <dsp:cNvPr id="0" name=""/>
        <dsp:cNvSpPr/>
      </dsp:nvSpPr>
      <dsp:spPr>
        <a:xfrm>
          <a:off x="395445" y="1002230"/>
          <a:ext cx="718991" cy="71899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E0D1EE-2EA2-463D-959C-AC8D9A54509A}">
      <dsp:nvSpPr>
        <dsp:cNvPr id="0" name=""/>
        <dsp:cNvSpPr/>
      </dsp:nvSpPr>
      <dsp:spPr>
        <a:xfrm>
          <a:off x="1509882" y="708097"/>
          <a:ext cx="6376817" cy="1307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351" tIns="138351" rIns="138351" bIns="138351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From the bar plot on the previous slide, we observe that </a:t>
          </a:r>
          <a:r>
            <a:rPr lang="en-US" sz="1600" b="1" kern="1200"/>
            <a:t>non-parametric models generally outperformed parametric models</a:t>
          </a:r>
          <a:r>
            <a:rPr lang="en-US" sz="1600" kern="1200"/>
            <a:t> in terms of predictive metrics.</a:t>
          </a:r>
        </a:p>
      </dsp:txBody>
      <dsp:txXfrm>
        <a:off x="1509882" y="708097"/>
        <a:ext cx="6376817" cy="1307257"/>
      </dsp:txXfrm>
    </dsp:sp>
    <dsp:sp modelId="{61F9FDF9-F100-4539-BEC1-7447CFFB3C9C}">
      <dsp:nvSpPr>
        <dsp:cNvPr id="0" name=""/>
        <dsp:cNvSpPr/>
      </dsp:nvSpPr>
      <dsp:spPr>
        <a:xfrm>
          <a:off x="0" y="2342169"/>
          <a:ext cx="7886700" cy="1307257"/>
        </a:xfrm>
        <a:prstGeom prst="roundRect">
          <a:avLst>
            <a:gd name="adj" fmla="val 10000"/>
          </a:avLst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35034A-04F1-42BE-841E-AB3E2D59B617}">
      <dsp:nvSpPr>
        <dsp:cNvPr id="0" name=""/>
        <dsp:cNvSpPr/>
      </dsp:nvSpPr>
      <dsp:spPr>
        <a:xfrm>
          <a:off x="395445" y="2636302"/>
          <a:ext cx="718991" cy="71899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06A0A6-1680-4A82-815A-460F0F792306}">
      <dsp:nvSpPr>
        <dsp:cNvPr id="0" name=""/>
        <dsp:cNvSpPr/>
      </dsp:nvSpPr>
      <dsp:spPr>
        <a:xfrm>
          <a:off x="1509882" y="2342169"/>
          <a:ext cx="6376817" cy="1307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351" tIns="138351" rIns="138351" bIns="138351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Note: Cross-validation was used for models like lasso, ridge, KNN, SVM and Boosting to tune hyperparameters and prevent overfitting.</a:t>
          </a:r>
          <a:br>
            <a:rPr lang="en-US" sz="1600" b="1" kern="1200" dirty="0"/>
          </a:br>
          <a:r>
            <a:rPr lang="en-US" sz="1600" b="1" kern="1200" dirty="0"/>
            <a:t>For LDA, the first five features were removed due to constant within-class variance, which violated model assumptions.</a:t>
          </a:r>
          <a:endParaRPr lang="en-US" sz="1600" kern="1200" dirty="0"/>
        </a:p>
      </dsp:txBody>
      <dsp:txXfrm>
        <a:off x="1509882" y="2342169"/>
        <a:ext cx="6376817" cy="130725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AB3C20-8DCA-4D86-837D-A4A78D44F710}">
      <dsp:nvSpPr>
        <dsp:cNvPr id="0" name=""/>
        <dsp:cNvSpPr/>
      </dsp:nvSpPr>
      <dsp:spPr>
        <a:xfrm>
          <a:off x="704083" y="915326"/>
          <a:ext cx="1075890" cy="107589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4529BF-3D8E-4A40-80D8-5639FE1A305C}">
      <dsp:nvSpPr>
        <dsp:cNvPr id="0" name=""/>
        <dsp:cNvSpPr/>
      </dsp:nvSpPr>
      <dsp:spPr>
        <a:xfrm>
          <a:off x="46594" y="2395636"/>
          <a:ext cx="2390868" cy="121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Regularization Techniques (Lasso &amp; Ridge):Help reduce overfitting by penalizing complex models, but in our case, did not significantly outperform standard logistic regression. This suggests that the features may already be relatively well-structured.</a:t>
          </a:r>
        </a:p>
      </dsp:txBody>
      <dsp:txXfrm>
        <a:off x="46594" y="2395636"/>
        <a:ext cx="2390868" cy="1215000"/>
      </dsp:txXfrm>
    </dsp:sp>
    <dsp:sp modelId="{14578919-D9D3-4826-99CC-FD5177C7D64F}">
      <dsp:nvSpPr>
        <dsp:cNvPr id="0" name=""/>
        <dsp:cNvSpPr/>
      </dsp:nvSpPr>
      <dsp:spPr>
        <a:xfrm>
          <a:off x="3513354" y="915326"/>
          <a:ext cx="1075890" cy="107589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58F4E2-3882-45A2-8716-F05C9DF81F84}">
      <dsp:nvSpPr>
        <dsp:cNvPr id="0" name=""/>
        <dsp:cNvSpPr/>
      </dsp:nvSpPr>
      <dsp:spPr>
        <a:xfrm>
          <a:off x="2855865" y="2395636"/>
          <a:ext cx="2390868" cy="121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Dimensionality Reduction (PCA + Logistic Regression):Achieved perfect recall and stable accuracy even after cross-validation. This shows that PCA effectively handled multicollinearity and preserved the most informative components for classification.</a:t>
          </a:r>
        </a:p>
      </dsp:txBody>
      <dsp:txXfrm>
        <a:off x="2855865" y="2395636"/>
        <a:ext cx="2390868" cy="1215000"/>
      </dsp:txXfrm>
    </dsp:sp>
    <dsp:sp modelId="{8BB50425-9EAD-4AB2-9B06-58883D1660BF}">
      <dsp:nvSpPr>
        <dsp:cNvPr id="0" name=""/>
        <dsp:cNvSpPr/>
      </dsp:nvSpPr>
      <dsp:spPr>
        <a:xfrm>
          <a:off x="6322625" y="915326"/>
          <a:ext cx="1075890" cy="107589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499E87-EF8B-425F-9EFB-6912B7EE4C48}">
      <dsp:nvSpPr>
        <dsp:cNvPr id="0" name=""/>
        <dsp:cNvSpPr/>
      </dsp:nvSpPr>
      <dsp:spPr>
        <a:xfrm>
          <a:off x="5665136" y="2395636"/>
          <a:ext cx="2390868" cy="121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Conclusion:While regularization had limited impact, PCA-based dimensionality reduction clearly improved model performance and generalizability, especially in high-sensitivity applications like medical diagnosis.</a:t>
          </a:r>
        </a:p>
      </dsp:txBody>
      <dsp:txXfrm>
        <a:off x="5665136" y="2395636"/>
        <a:ext cx="2390868" cy="1215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1E5A15-5CA1-4A27-969F-B150E7708CC8}">
      <dsp:nvSpPr>
        <dsp:cNvPr id="0" name=""/>
        <dsp:cNvSpPr/>
      </dsp:nvSpPr>
      <dsp:spPr>
        <a:xfrm>
          <a:off x="884935" y="296402"/>
          <a:ext cx="2196000" cy="2196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23189D-B076-427E-903D-9CD4C933E9EB}">
      <dsp:nvSpPr>
        <dsp:cNvPr id="0" name=""/>
        <dsp:cNvSpPr/>
      </dsp:nvSpPr>
      <dsp:spPr>
        <a:xfrm>
          <a:off x="1352935" y="764402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065BB0-5760-4986-8E2A-2ECFFCFD3799}">
      <dsp:nvSpPr>
        <dsp:cNvPr id="0" name=""/>
        <dsp:cNvSpPr/>
      </dsp:nvSpPr>
      <dsp:spPr>
        <a:xfrm>
          <a:off x="182935" y="317640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b="0" i="0" kern="1200" baseline="0"/>
            <a:t>We appreciate your time and attention.</a:t>
          </a:r>
          <a:endParaRPr lang="en-US" sz="2500" kern="1200"/>
        </a:p>
      </dsp:txBody>
      <dsp:txXfrm>
        <a:off x="182935" y="3176402"/>
        <a:ext cx="3600000" cy="720000"/>
      </dsp:txXfrm>
    </dsp:sp>
    <dsp:sp modelId="{47DB77C4-BA5B-4C50-88CE-4FF9CD61313F}">
      <dsp:nvSpPr>
        <dsp:cNvPr id="0" name=""/>
        <dsp:cNvSpPr/>
      </dsp:nvSpPr>
      <dsp:spPr>
        <a:xfrm>
          <a:off x="5114935" y="296402"/>
          <a:ext cx="2196000" cy="2196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D2C765-B582-4A53-898E-1ACE51AFDFFB}">
      <dsp:nvSpPr>
        <dsp:cNvPr id="0" name=""/>
        <dsp:cNvSpPr/>
      </dsp:nvSpPr>
      <dsp:spPr>
        <a:xfrm>
          <a:off x="5582935" y="764402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95D34D-734B-4E68-A381-14304CF7CF3D}">
      <dsp:nvSpPr>
        <dsp:cNvPr id="0" name=""/>
        <dsp:cNvSpPr/>
      </dsp:nvSpPr>
      <dsp:spPr>
        <a:xfrm>
          <a:off x="4412935" y="317640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b="1" i="0" kern="1200" baseline="0"/>
            <a:t>Questions or feedback are welcome!</a:t>
          </a:r>
          <a:endParaRPr lang="en-US" sz="2500" kern="1200"/>
        </a:p>
      </dsp:txBody>
      <dsp:txXfrm>
        <a:off x="4412935" y="3176402"/>
        <a:ext cx="36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26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Hand on a tablet with digital signs">
            <a:extLst>
              <a:ext uri="{FF2B5EF4-FFF2-40B4-BE49-F238E27FC236}">
                <a16:creationId xmlns:a16="http://schemas.microsoft.com/office/drawing/2014/main" id="{E35CF6DC-23C4-5CCA-E683-456D48A85D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215" t="6484" r="7609" b="-1"/>
          <a:stretch/>
        </p:blipFill>
        <p:spPr>
          <a:xfrm>
            <a:off x="2642616" y="10"/>
            <a:ext cx="6501384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317450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8485" y="1122363"/>
            <a:ext cx="3017520" cy="3204134"/>
          </a:xfrm>
        </p:spPr>
        <p:txBody>
          <a:bodyPr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3300"/>
              <a:t>Comprehensive Analysis of Parkinson’s Dataset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8485" y="4872922"/>
            <a:ext cx="3017519" cy="1208141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1700"/>
              <a:t>Group: </a:t>
            </a:r>
          </a:p>
          <a:p>
            <a:pPr algn="l">
              <a:lnSpc>
                <a:spcPct val="90000"/>
              </a:lnSpc>
            </a:pPr>
            <a:r>
              <a:rPr lang="en-US" sz="1700" b="1" i="1"/>
              <a:t>Dinesh Kumar Gummadavelli</a:t>
            </a:r>
          </a:p>
          <a:p>
            <a:pPr algn="l">
              <a:lnSpc>
                <a:spcPct val="90000"/>
              </a:lnSpc>
            </a:pPr>
            <a:r>
              <a:rPr lang="en-US" sz="1700" b="1" i="1"/>
              <a:t>Maneesh Modepalli</a:t>
            </a:r>
          </a:p>
          <a:p>
            <a:pPr algn="l">
              <a:lnSpc>
                <a:spcPct val="90000"/>
              </a:lnSpc>
            </a:pPr>
            <a:r>
              <a:rPr lang="en-US" sz="1700" b="1" i="1"/>
              <a:t>Rakul A. Venkatesan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1653" y="434802"/>
            <a:ext cx="146304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771" y="4546920"/>
            <a:ext cx="298323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8FC9BE17-9A7B-462D-AE50-3D87773873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tethoscope in white background">
            <a:extLst>
              <a:ext uri="{FF2B5EF4-FFF2-40B4-BE49-F238E27FC236}">
                <a16:creationId xmlns:a16="http://schemas.microsoft.com/office/drawing/2014/main" id="{A23E9CC6-1EFC-A323-3764-E9EC4683E7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068" r="13406" b="9091"/>
          <a:stretch/>
        </p:blipFill>
        <p:spPr>
          <a:xfrm>
            <a:off x="2642616" y="10"/>
            <a:ext cx="6501384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3EBE8569-6AEC-4B8C-8D53-2DE337CDB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731745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8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365F0F-03FB-FA62-28FA-EF63D044D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320" y="1161288"/>
            <a:ext cx="2578608" cy="1124712"/>
          </a:xfrm>
        </p:spPr>
        <p:txBody>
          <a:bodyPr anchor="b">
            <a:normAutofit/>
          </a:bodyPr>
          <a:lstStyle/>
          <a:p>
            <a:r>
              <a:rPr lang="en-US" sz="2400"/>
              <a:t>Motivation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87775" y="674370"/>
            <a:ext cx="73152" cy="411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183" y="2443480"/>
            <a:ext cx="2475738" cy="9144"/>
          </a:xfrm>
          <a:prstGeom prst="rect">
            <a:avLst/>
          </a:prstGeom>
          <a:solidFill>
            <a:srgbClr val="D5D5D5"/>
          </a:solidFill>
          <a:ln w="3175">
            <a:solidFill>
              <a:srgbClr val="D5D5D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5FE628-730B-DCF4-161E-8BE37FA6F4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319" y="2718054"/>
            <a:ext cx="2744281" cy="3207258"/>
          </a:xfrm>
        </p:spPr>
        <p:txBody>
          <a:bodyPr anchor="t"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sz="1600" dirty="0"/>
              <a:t>Parkinson’s disease is a progressive neurological disorder that affects movement and quality of life. Early detection is essential for effective treatment, but symptoms are often subtle and hard to identify in the early stages.</a:t>
            </a:r>
          </a:p>
          <a:p>
            <a:pPr marL="0" indent="0">
              <a:lnSpc>
                <a:spcPct val="90000"/>
              </a:lnSpc>
              <a:buNone/>
            </a:pPr>
            <a:endParaRPr lang="en-US" sz="1600" dirty="0"/>
          </a:p>
          <a:p>
            <a:pPr>
              <a:lnSpc>
                <a:spcPct val="90000"/>
              </a:lnSpc>
            </a:pPr>
            <a:r>
              <a:rPr lang="en-US" sz="1600" dirty="0"/>
              <a:t>By using Data Mining techniques on voice data, we aim to support earlier and more accurate diagnosis, helping improve outcomes for patients.</a:t>
            </a:r>
          </a:p>
          <a:p>
            <a:pPr>
              <a:lnSpc>
                <a:spcPct val="90000"/>
              </a:lnSpc>
            </a:pP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751454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4AD29B6-BF3B-4407-9E75-52DF8E3B2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5F8BA08-3E38-4B70-B93A-74F08E092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260019"/>
            <a:ext cx="8375586" cy="5933012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771" y="507160"/>
            <a:ext cx="2245179" cy="5438730"/>
          </a:xfrm>
        </p:spPr>
        <p:txBody>
          <a:bodyPr>
            <a:normAutofit/>
          </a:bodyPr>
          <a:lstStyle/>
          <a:p>
            <a:r>
              <a:rPr lang="en-US" sz="2800"/>
              <a:t>Dataset Description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7F1B33-79AB-4A71-8CEC-4546D709B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2874481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4055F1B-D722-38C7-08A9-F57B79D297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3601191"/>
              </p:ext>
            </p:extLst>
          </p:nvPr>
        </p:nvGraphicFramePr>
        <p:xfrm>
          <a:off x="3394710" y="512064"/>
          <a:ext cx="5122926" cy="5440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en-US" sz="3500"/>
              <a:t>Research Questions Explored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7A8A88E-FF05-2890-AE46-C5499E989B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78872574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A26A56-7EDB-6818-43FA-3B1266BEE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798" y="525982"/>
            <a:ext cx="3212237" cy="1200361"/>
          </a:xfrm>
        </p:spPr>
        <p:txBody>
          <a:bodyPr anchor="b">
            <a:normAutofit/>
          </a:bodyPr>
          <a:lstStyle/>
          <a:p>
            <a:r>
              <a:rPr lang="en-US" sz="2900" dirty="0"/>
              <a:t>Feature Significance Analysis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2399" y="1944913"/>
            <a:ext cx="301752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ontent Placeholder 8">
            <a:extLst>
              <a:ext uri="{FF2B5EF4-FFF2-40B4-BE49-F238E27FC236}">
                <a16:creationId xmlns:a16="http://schemas.microsoft.com/office/drawing/2014/main" id="{C9369889-CDEF-45C1-00B4-33D052C520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799" y="2031101"/>
            <a:ext cx="3212238" cy="3511943"/>
          </a:xfrm>
        </p:spPr>
        <p:txBody>
          <a:bodyPr anchor="ctr">
            <a:normAutofit fontScale="92500" lnSpcReduction="20000"/>
          </a:bodyPr>
          <a:lstStyle/>
          <a:p>
            <a:r>
              <a:rPr lang="en-US" sz="1600" dirty="0"/>
              <a:t>We initially used p-values from the logistic regression model to assess feature importance, but most were not significant due to multicollinearity, which obscures individual effects.</a:t>
            </a:r>
          </a:p>
          <a:p>
            <a:r>
              <a:rPr lang="en-US" sz="1600" dirty="0"/>
              <a:t>Despite this, the model fit was strong, as shown by the drop in residual deviance. </a:t>
            </a:r>
          </a:p>
          <a:p>
            <a:r>
              <a:rPr lang="en-US" sz="1600" dirty="0"/>
              <a:t>This suggests that while individual features may not stand out, the features collectively contribute meaningfully to the model’s predictive power.</a:t>
            </a:r>
          </a:p>
          <a:p>
            <a:r>
              <a:rPr lang="en-US" sz="1600" dirty="0"/>
              <a:t>A better approach for identifying key features could be using best subset selection.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61965" y="6072626"/>
            <a:ext cx="740664" cy="11559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336109" y="1694387"/>
            <a:ext cx="740664" cy="887511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72594" y="354959"/>
            <a:ext cx="4638730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34027F9-8A07-A9DB-FDB6-488992497F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249544"/>
            <a:ext cx="4567923" cy="4126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300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24007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BFE3BC-D70D-758A-A8C5-16EA4BF4B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09600"/>
            <a:ext cx="2804505" cy="133083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/>
              <a:t>Parametric v Non-Parametric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8796A26-550B-C64F-377B-20EFC86F2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774" y="2194102"/>
            <a:ext cx="2570251" cy="3908586"/>
          </a:xfrm>
        </p:spPr>
        <p:txBody>
          <a:bodyPr>
            <a:normAutofit/>
          </a:bodyPr>
          <a:lstStyle/>
          <a:p>
            <a:r>
              <a:rPr lang="en-US" sz="1700" dirty="0"/>
              <a:t>We analyzed the model performance based on three metrics Accuracy, Precision and recall.</a:t>
            </a:r>
          </a:p>
          <a:p>
            <a:r>
              <a:rPr lang="en-US" sz="1700" dirty="0"/>
              <a:t>Here is a bar plot that shows the various metrics by each model where each bar represents a different metric from the same model.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142D7D5-E9AA-9722-09A4-489022B385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0601" y="1803998"/>
            <a:ext cx="5486400" cy="3623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07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10B130-0753-E7B0-C002-ABEC403A6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256032"/>
            <a:ext cx="7879842" cy="1014984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/>
              <a:t>Verdict after comparing different model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1634502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1538176"/>
            <a:ext cx="1405092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ED84657-7001-D61B-94BB-66BB7489CB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2903378"/>
              </p:ext>
            </p:extLst>
          </p:nvPr>
        </p:nvGraphicFramePr>
        <p:xfrm>
          <a:off x="628650" y="1926266"/>
          <a:ext cx="78867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457748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ngled shot of pen on a graph">
            <a:extLst>
              <a:ext uri="{FF2B5EF4-FFF2-40B4-BE49-F238E27FC236}">
                <a16:creationId xmlns:a16="http://schemas.microsoft.com/office/drawing/2014/main" id="{A5482F7F-3459-6EDD-1A00-3E45F7CF64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6720" b="-1"/>
          <a:stretch/>
        </p:blipFill>
        <p:spPr>
          <a:xfrm>
            <a:off x="2642616" y="10"/>
            <a:ext cx="6501384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317450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24DE75-1412-4D35-D15F-C384F1333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485" y="1122363"/>
            <a:ext cx="301752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900" dirty="0"/>
              <a:t>Can Regularization and Dimensionality Reduction Improve Performance?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1653" y="434802"/>
            <a:ext cx="146304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771" y="4546920"/>
            <a:ext cx="298323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70910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9A276F5D-CEA4-839A-F0AA-C42CDA37DF5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457200"/>
          <a:ext cx="8102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DBE6220C-B2CF-841E-55AD-13F38C13C4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633" y="4783667"/>
            <a:ext cx="9084733" cy="1745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2334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Slide Background">
            <a:extLst>
              <a:ext uri="{FF2B5EF4-FFF2-40B4-BE49-F238E27FC236}">
                <a16:creationId xmlns:a16="http://schemas.microsoft.com/office/drawing/2014/main" id="{AF6CB648-9554-488A-B457-99CAAD1DA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E3ADCBE7-9330-1CDA-00EB-CDD12DB722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90"/>
            <a:ext cx="9143999" cy="1733407"/>
          </a:xfrm>
          <a:prstGeom prst="rect">
            <a:avLst/>
          </a:prstGeom>
          <a:ln>
            <a:noFill/>
          </a:ln>
          <a:effectLst>
            <a:outerShdw blurRad="254000" dist="38100" dir="5460000" sx="94000" sy="94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2610CC-4F51-0753-5B7F-D2528FAE3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351" y="240241"/>
            <a:ext cx="8070041" cy="1228299"/>
          </a:xfrm>
        </p:spPr>
        <p:txBody>
          <a:bodyPr>
            <a:normAutofit/>
          </a:bodyPr>
          <a:lstStyle/>
          <a:p>
            <a:r>
              <a:rPr lang="en-US" sz="3500"/>
              <a:t>Cross-Validation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99490-816E-40C6-36E6-0CCB38A33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351" y="2321476"/>
            <a:ext cx="3648656" cy="385072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600"/>
              <a:t>The application of cross-validation techniques reveals that parametric models generally maintain stable performance, with minimal changes across accuracy, precision, and recall. </a:t>
            </a:r>
          </a:p>
          <a:p>
            <a:pPr>
              <a:lnSpc>
                <a:spcPct val="90000"/>
              </a:lnSpc>
            </a:pPr>
            <a:r>
              <a:rPr lang="en-US" sz="1600"/>
              <a:t>In contrast, non-parametric models show greater variability, particularly the Decision Tree, which exhibits a notable drop in accuracy and precision. </a:t>
            </a:r>
          </a:p>
          <a:p>
            <a:pPr>
              <a:lnSpc>
                <a:spcPct val="90000"/>
              </a:lnSpc>
            </a:pPr>
            <a:r>
              <a:rPr lang="en-US" sz="1600"/>
              <a:t>This suggests that parametric models may generalize better on this dataset, while some non-parametric models, though powerful, are more prone to overfitting without regularization or tuning.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D3FDDFA-536B-7521-DA0C-E3E6326A34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2467" y="2510188"/>
            <a:ext cx="4795131" cy="2959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3233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52532-BD8E-2633-DC9C-7BA6AAA6A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/>
              <a:t>Interpretability vs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666ED-3F73-B9C1-DA6D-ACBF5075A5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2321" y="2227943"/>
            <a:ext cx="5033221" cy="378822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Logistic Regression, LDA: Interpretable, feature-driven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Random Forest, Boosting, SVM: Higher performance but black-box</a:t>
            </a:r>
            <a:br>
              <a:rPr lang="en-US" sz="1600" dirty="0"/>
            </a:br>
            <a:r>
              <a:rPr lang="en-US" sz="1600" b="1" dirty="0"/>
              <a:t>In Medical Settings:</a:t>
            </a:r>
            <a:r>
              <a:rPr lang="en-US" sz="1600" dirty="0"/>
              <a:t> Interpretability is key for trust, but recall (sensitivity) must be prioritized to avoid missing Parkinson’s diagnoses.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Statistics">
            <a:extLst>
              <a:ext uri="{FF2B5EF4-FFF2-40B4-BE49-F238E27FC236}">
                <a16:creationId xmlns:a16="http://schemas.microsoft.com/office/drawing/2014/main" id="{912C7625-F2DB-488A-3826-23B4D202FE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6449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sz="3700" dirty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600" dirty="0"/>
              <a:t>Overall, the </a:t>
            </a:r>
            <a:r>
              <a:rPr lang="en-US" sz="1600" b="1" dirty="0"/>
              <a:t>PCA + Logistic Regression</a:t>
            </a:r>
            <a:r>
              <a:rPr lang="en-US" sz="1600" dirty="0"/>
              <a:t> model is a better choice for our dataset. It provides strong predictive performance with perfect recall, while remaining more interpretable than complex black-box models. 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This makes it both effective and trustworthy for medical diagnosis tasks like Parkinson’s detection.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B8A034-89CE-EAF3-C1B1-68B73C15B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Thank you</a:t>
            </a:r>
          </a:p>
        </p:txBody>
      </p:sp>
      <p:graphicFrame>
        <p:nvGraphicFramePr>
          <p:cNvPr id="8" name="Rectangle 2">
            <a:extLst>
              <a:ext uri="{FF2B5EF4-FFF2-40B4-BE49-F238E27FC236}">
                <a16:creationId xmlns:a16="http://schemas.microsoft.com/office/drawing/2014/main" id="{E3B9AE51-C357-CCC5-630F-75E26400DC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8578262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057733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</TotalTime>
  <Words>699</Words>
  <Application>Microsoft Office PowerPoint</Application>
  <PresentationFormat>On-screen Show (4:3)</PresentationFormat>
  <Paragraphs>49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Comprehensive Analysis of Parkinson’s Dataset</vt:lpstr>
      <vt:lpstr>Motivation</vt:lpstr>
      <vt:lpstr>Dataset Description</vt:lpstr>
      <vt:lpstr>Research Questions Explored</vt:lpstr>
      <vt:lpstr>Feature Significance Analysis</vt:lpstr>
      <vt:lpstr>Parametric v Non-Parametric</vt:lpstr>
      <vt:lpstr>Verdict after comparing different model</vt:lpstr>
      <vt:lpstr>Can Regularization and Dimensionality Reduction Improve Performance?</vt:lpstr>
      <vt:lpstr>PowerPoint Presentation</vt:lpstr>
      <vt:lpstr>Cross-Validation Impact</vt:lpstr>
      <vt:lpstr>Interpretability vs Performance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dinesh kumar</cp:lastModifiedBy>
  <cp:revision>7</cp:revision>
  <dcterms:created xsi:type="dcterms:W3CDTF">2013-01-27T09:14:16Z</dcterms:created>
  <dcterms:modified xsi:type="dcterms:W3CDTF">2025-05-08T21:17:59Z</dcterms:modified>
  <cp:category/>
</cp:coreProperties>
</file>